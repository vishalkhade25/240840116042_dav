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2" r:id="rId3"/>
    <p:sldId id="257" r:id="rId4"/>
    <p:sldId id="258" r:id="rId5"/>
    <p:sldId id="259" r:id="rId6"/>
    <p:sldId id="260" r:id="rId7"/>
    <p:sldId id="26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E48E1714-5BD8-1F1A-4BCF-9764A045FFDE}">
          <p14:sldIdLst>
            <p14:sldId id="256"/>
            <p14:sldId id="262"/>
          </p14:sldIdLst>
        </p14:section>
        <p14:section name="Observation" id="{0E68AB28-C281-B0DB-04D7-661D6AE0DB37}">
          <p14:sldIdLst>
            <p14:sldId id="257"/>
          </p14:sldIdLst>
        </p14:section>
        <p14:section name="Raw to final data" id="{93824B7F-DAC2-550D-2FE8-226D1BEDD422}">
          <p14:sldIdLst>
            <p14:sldId id="258"/>
          </p14:sldIdLst>
        </p14:section>
        <p14:section name="Solution" id="{A8CEA4EC-0762-50AC-7C15-BCEF6C902C2B}">
          <p14:sldIdLst>
            <p14:sldId id="259"/>
          </p14:sldIdLst>
        </p14:section>
        <p14:section name="Dashboard and insights" id="{75ABC151-FC89-51D0-C1D5-B408C714AF43}">
          <p14:sldIdLst>
            <p14:sldId id="260"/>
          </p14:sldIdLst>
        </p14:section>
        <p14:section name="Recommendations" id="{5A2E4022-62C1-5A77-9A70-F8E0BC7D4CB4}">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p:restoredTop sz="94610"/>
  </p:normalViewPr>
  <p:slideViewPr>
    <p:cSldViewPr snapToGrid="0" snapToObjects="1">
      <p:cViewPr>
        <p:scale>
          <a:sx n="117" d="100"/>
          <a:sy n="117" d="100"/>
        </p:scale>
        <p:origin x="28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4940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(Team Insights), the subject Data Analytics and Visualization (1IT508) and the INSIGHTVISTA 2026 competition. Our project analyses Zomato restaurant data for Bangalore.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stood out when we first explored the data: its size, the missing values, the multi-cuisine text column, and the skewed cost. Each of these decided a cleaning step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loaded the file, dropped the index columns, checked for gaps and removed the 121 incomplete rows. We chose to remove rather than fill the nulls because ratings are our main measure and under 2% of rows were affected. The result is 6,984 clean rows and 14 columns.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dataset we load into Power BI. Apart from cleaning it we added helper columns so that charts are readable: one main cuisine per restaurant, five named restaurant types plus Other, and seven cost ranges.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has six KPI cards, six charts and three slicers. Four insights stand out: rating rises with price, table booking is linked with higher ratings, Quick Bites are the largest group but rate below average, and area matters. Area comparison uses areas with 150 or more restaurants. These are associations, not proof of cause.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actions for Zomato, each tied to a number from the data. Table booking and online ordering are growth levers, Quick Bites and weaker areas are quality levers, and reviews make ratings more reliable. Booking and rating are associated, so we recommend testing before scaling.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31720"/>
            <a:ext cx="65836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731520" y="868680"/>
            <a:ext cx="1005840" cy="1005840"/>
          </a:xfrm>
          <a:prstGeom prst="ellipse">
            <a:avLst/>
          </a:prstGeom>
          <a:solidFill>
            <a:schemeClr val="accent1"/>
          </a:solidFill>
          <a:ln/>
        </p:spPr>
      </p:sp>
      <p:pic>
        <p:nvPicPr>
          <p:cNvPr id="3" name="Icon" descr="preencoded.png"/>
          <p:cNvPicPr>
            <a:picLocks noChangeAspect="1"/>
          </p:cNvPicPr>
          <p:nvPr/>
        </p:nvPicPr>
        <p:blipFill>
          <a:blip r:embed="rId3"/>
          <a:stretch>
            <a:fillRect/>
          </a:stretch>
        </p:blipFill>
        <p:spPr>
          <a:xfrm>
            <a:off x="993038" y="1130198"/>
            <a:ext cx="482803" cy="482803"/>
          </a:xfrm>
          <a:prstGeom prst="rect">
            <a:avLst/>
          </a:prstGeom>
        </p:spPr>
      </p:pic>
      <p:sp>
        <p:nvSpPr>
          <p:cNvPr id="4" name="Text 0"/>
          <p:cNvSpPr>
            <a:spLocks noGrp="1"/>
          </p:cNvSpPr>
          <p:nvPr>
            <p:ph type="title" idx="100" hasCustomPrompt="1"/>
          </p:nvPr>
        </p:nvSpPr>
        <p:spPr>
          <a:xfrm>
            <a:off x="731520" y="2331720"/>
            <a:ext cx="6583680" cy="1737360"/>
          </a:xfrm>
          <a:prstGeom prst="rect">
            <a:avLst/>
          </a:prstGeom>
          <a:noFill/>
          <a:ln/>
        </p:spPr>
        <p:txBody>
          <a:bodyPr wrap="square" lIns="0" tIns="0" rIns="0" bIns="0" rtlCol="0" anchor="t"/>
          <a:lstStyle/>
          <a:p>
            <a:pPr marL="0" indent="0" algn="l">
              <a:buNone/>
            </a:pPr>
            <a:r>
              <a:rPr lang="en-US" sz="4400" b="1" dirty="0">
                <a:solidFill>
                  <a:schemeClr val="bg1"/>
                </a:solidFill>
              </a:rPr>
              <a:t>Zomato Restaurants Analysis</a:t>
            </a:r>
            <a:endParaRPr lang="en-US" sz="4400" dirty="0"/>
          </a:p>
        </p:txBody>
      </p:sp>
      <p:sp>
        <p:nvSpPr>
          <p:cNvPr id="5" name="Text 2"/>
          <p:cNvSpPr txBox="1"/>
          <p:nvPr/>
        </p:nvSpPr>
        <p:spPr>
          <a:xfrm>
            <a:off x="731520" y="4251960"/>
            <a:ext cx="6217920" cy="914400"/>
          </a:xfrm>
          <a:prstGeom prst="rect">
            <a:avLst/>
          </a:prstGeom>
          <a:noFill/>
          <a:ln/>
        </p:spPr>
        <p:txBody>
          <a:bodyPr wrap="square" lIns="0" tIns="0" rIns="0" bIns="0" rtlCol="0" anchor="t"/>
          <a:lstStyle/>
          <a:p>
            <a:pPr marL="0" indent="0">
              <a:buNone/>
            </a:pPr>
            <a:r>
              <a:rPr lang="en-US" sz="2000" dirty="0">
                <a:solidFill>
                  <a:schemeClr val="accent3"/>
                </a:solidFill>
              </a:rPr>
              <a:t>From raw Bangalore restaurant data to business recommendations</a:t>
            </a:r>
            <a:endParaRPr lang="en-US" sz="2000" dirty="0"/>
          </a:p>
        </p:txBody>
      </p:sp>
      <p:sp>
        <p:nvSpPr>
          <p:cNvPr id="6" name="Team card"/>
          <p:cNvSpPr/>
          <p:nvPr/>
        </p:nvSpPr>
        <p:spPr>
          <a:xfrm>
            <a:off x="7680960" y="822960"/>
            <a:ext cx="4050792" cy="5212080"/>
          </a:xfrm>
          <a:prstGeom prst="roundRect">
            <a:avLst>
              <a:gd name="adj" fmla="val 2709"/>
            </a:avLst>
          </a:prstGeom>
          <a:solidFill>
            <a:schemeClr val="tx2"/>
          </a:solidFill>
          <a:ln/>
        </p:spPr>
      </p:sp>
      <p:sp>
        <p:nvSpPr>
          <p:cNvPr id="7" name="Text 4"/>
          <p:cNvSpPr txBox="1"/>
          <p:nvPr/>
        </p:nvSpPr>
        <p:spPr>
          <a:xfrm>
            <a:off x="8001000" y="1143000"/>
            <a:ext cx="3474720" cy="274320"/>
          </a:xfrm>
          <a:prstGeom prst="rect">
            <a:avLst/>
          </a:prstGeom>
          <a:noFill/>
          <a:ln/>
        </p:spPr>
        <p:txBody>
          <a:bodyPr wrap="square" lIns="0" tIns="0" rIns="0" bIns="0" rtlCol="0" anchor="t"/>
          <a:lstStyle/>
          <a:p>
            <a:pPr marL="0" indent="0">
              <a:buNone/>
            </a:pPr>
            <a:r>
              <a:rPr lang="en-US" sz="1300" b="1" dirty="0">
                <a:solidFill>
                  <a:schemeClr val="accent3"/>
                </a:solidFill>
              </a:rPr>
              <a:t>Subject</a:t>
            </a:r>
            <a:endParaRPr lang="en-US" sz="1300" dirty="0"/>
          </a:p>
        </p:txBody>
      </p:sp>
      <p:sp>
        <p:nvSpPr>
          <p:cNvPr id="8" name="Text 5"/>
          <p:cNvSpPr txBox="1"/>
          <p:nvPr/>
        </p:nvSpPr>
        <p:spPr>
          <a:xfrm>
            <a:off x="8001000" y="1417320"/>
            <a:ext cx="3474720" cy="640080"/>
          </a:xfrm>
          <a:prstGeom prst="rect">
            <a:avLst/>
          </a:prstGeom>
          <a:noFill/>
          <a:ln/>
        </p:spPr>
        <p:txBody>
          <a:bodyPr wrap="square" lIns="0" tIns="0" rIns="0" bIns="0" rtlCol="0" anchor="t"/>
          <a:lstStyle/>
          <a:p>
            <a:pPr marL="0" indent="0">
              <a:buNone/>
            </a:pPr>
            <a:r>
              <a:rPr lang="en-US" sz="1600" dirty="0">
                <a:solidFill>
                  <a:schemeClr val="bg1"/>
                </a:solidFill>
              </a:rPr>
              <a:t>Data Analytics and Visualization (1IT508)</a:t>
            </a:r>
            <a:endParaRPr lang="en-US" sz="1600" dirty="0"/>
          </a:p>
        </p:txBody>
      </p:sp>
      <p:sp>
        <p:nvSpPr>
          <p:cNvPr id="9" name="Text 6"/>
          <p:cNvSpPr txBox="1"/>
          <p:nvPr/>
        </p:nvSpPr>
        <p:spPr>
          <a:xfrm>
            <a:off x="8001000" y="2331720"/>
            <a:ext cx="3474720" cy="274320"/>
          </a:xfrm>
          <a:prstGeom prst="rect">
            <a:avLst/>
          </a:prstGeom>
          <a:noFill/>
          <a:ln/>
        </p:spPr>
        <p:txBody>
          <a:bodyPr wrap="square" lIns="0" tIns="0" rIns="0" bIns="0" rtlCol="0" anchor="t"/>
          <a:lstStyle/>
          <a:p>
            <a:pPr marL="0" indent="0">
              <a:buNone/>
            </a:pPr>
            <a:r>
              <a:rPr lang="en-US" sz="1300" b="1" dirty="0">
                <a:solidFill>
                  <a:schemeClr val="accent3"/>
                </a:solidFill>
              </a:rPr>
              <a:t>Competition</a:t>
            </a:r>
            <a:endParaRPr lang="en-US" sz="1300" dirty="0"/>
          </a:p>
        </p:txBody>
      </p:sp>
      <p:sp>
        <p:nvSpPr>
          <p:cNvPr id="10" name="Text 7"/>
          <p:cNvSpPr txBox="1"/>
          <p:nvPr/>
        </p:nvSpPr>
        <p:spPr>
          <a:xfrm>
            <a:off x="8001000" y="2606040"/>
            <a:ext cx="3474720" cy="320040"/>
          </a:xfrm>
          <a:prstGeom prst="rect">
            <a:avLst/>
          </a:prstGeom>
          <a:noFill/>
          <a:ln/>
        </p:spPr>
        <p:txBody>
          <a:bodyPr wrap="square" lIns="0" tIns="0" rIns="0" bIns="0" rtlCol="0" anchor="t"/>
          <a:lstStyle/>
          <a:p>
            <a:pPr marL="0" indent="0">
              <a:buNone/>
            </a:pPr>
            <a:r>
              <a:rPr lang="en-US" sz="1600" dirty="0">
                <a:solidFill>
                  <a:schemeClr val="bg1"/>
                </a:solidFill>
              </a:rPr>
              <a:t>INSIGHTVISTA 2026</a:t>
            </a:r>
            <a:endParaRPr lang="en-US" sz="1600" dirty="0"/>
          </a:p>
        </p:txBody>
      </p:sp>
      <p:sp>
        <p:nvSpPr>
          <p:cNvPr id="11" name="Text 8"/>
          <p:cNvSpPr txBox="1"/>
          <p:nvPr/>
        </p:nvSpPr>
        <p:spPr>
          <a:xfrm>
            <a:off x="8001000" y="3246120"/>
            <a:ext cx="3474720" cy="274320"/>
          </a:xfrm>
          <a:prstGeom prst="rect">
            <a:avLst/>
          </a:prstGeom>
          <a:noFill/>
          <a:ln/>
        </p:spPr>
        <p:txBody>
          <a:bodyPr wrap="square" lIns="0" tIns="0" rIns="0" bIns="0" rtlCol="0" anchor="t"/>
          <a:lstStyle/>
          <a:p>
            <a:pPr marL="0" indent="0">
              <a:buNone/>
            </a:pPr>
            <a:r>
              <a:rPr lang="en-US" sz="1300" b="1" dirty="0">
                <a:solidFill>
                  <a:schemeClr val="accent3"/>
                </a:solidFill>
              </a:rPr>
              <a:t>Team name</a:t>
            </a:r>
            <a:endParaRPr lang="en-US" sz="1300" dirty="0"/>
          </a:p>
        </p:txBody>
      </p:sp>
      <p:sp>
        <p:nvSpPr>
          <p:cNvPr id="12" name="Text 9"/>
          <p:cNvSpPr txBox="1"/>
          <p:nvPr/>
        </p:nvSpPr>
        <p:spPr>
          <a:xfrm>
            <a:off x="8001000" y="3520440"/>
            <a:ext cx="3474720" cy="320040"/>
          </a:xfrm>
          <a:prstGeom prst="rect">
            <a:avLst/>
          </a:prstGeom>
          <a:noFill/>
          <a:ln/>
        </p:spPr>
        <p:txBody>
          <a:bodyPr wrap="square" lIns="0" tIns="0" rIns="0" bIns="0" rtlCol="0" anchor="t"/>
          <a:lstStyle/>
          <a:p>
            <a:pPr marL="0" indent="0">
              <a:buNone/>
            </a:pPr>
            <a:r>
              <a:rPr lang="en-US" sz="1600" dirty="0">
                <a:solidFill>
                  <a:schemeClr val="bg1"/>
                </a:solidFill>
              </a:rPr>
              <a:t>Team Insights</a:t>
            </a:r>
            <a:endParaRPr lang="en-US" sz="1600" dirty="0"/>
          </a:p>
        </p:txBody>
      </p:sp>
      <p:sp>
        <p:nvSpPr>
          <p:cNvPr id="13" name="Text 10"/>
          <p:cNvSpPr txBox="1"/>
          <p:nvPr/>
        </p:nvSpPr>
        <p:spPr>
          <a:xfrm>
            <a:off x="8001000" y="4160520"/>
            <a:ext cx="3474720" cy="274320"/>
          </a:xfrm>
          <a:prstGeom prst="rect">
            <a:avLst/>
          </a:prstGeom>
          <a:noFill/>
          <a:ln/>
        </p:spPr>
        <p:txBody>
          <a:bodyPr wrap="square" lIns="0" tIns="0" rIns="0" bIns="0" rtlCol="0" anchor="t"/>
          <a:lstStyle/>
          <a:p>
            <a:pPr marL="0" indent="0">
              <a:buNone/>
            </a:pPr>
            <a:r>
              <a:rPr lang="en-US" sz="1300" b="1" dirty="0">
                <a:solidFill>
                  <a:schemeClr val="accent3"/>
                </a:solidFill>
              </a:rPr>
              <a:t>Team members</a:t>
            </a:r>
            <a:endParaRPr lang="en-US" sz="1300" dirty="0"/>
          </a:p>
        </p:txBody>
      </p:sp>
      <p:sp>
        <p:nvSpPr>
          <p:cNvPr id="14" name="Text 11"/>
          <p:cNvSpPr txBox="1"/>
          <p:nvPr/>
        </p:nvSpPr>
        <p:spPr>
          <a:xfrm>
            <a:off x="8001000" y="4434840"/>
            <a:ext cx="3474720" cy="1417320"/>
          </a:xfrm>
          <a:prstGeom prst="rect">
            <a:avLst/>
          </a:prstGeom>
          <a:noFill/>
          <a:ln/>
        </p:spPr>
        <p:txBody>
          <a:bodyPr wrap="square" lIns="0" tIns="0" rIns="0" bIns="0" rtlCol="0" anchor="t"/>
          <a:lstStyle/>
          <a:p>
            <a:pPr marL="0" indent="0">
              <a:spcAft>
                <a:spcPts val="200"/>
              </a:spcAft>
              <a:buNone/>
            </a:pPr>
            <a:r>
              <a:rPr lang="en-US" sz="1600" dirty="0">
                <a:solidFill>
                  <a:schemeClr val="bg1"/>
                </a:solidFill>
              </a:rPr>
              <a:t>240840116058</a:t>
            </a:r>
            <a:endParaRPr lang="en-US" sz="1600" dirty="0"/>
          </a:p>
          <a:p>
            <a:pPr marL="0" indent="0">
              <a:spcAft>
                <a:spcPts val="200"/>
              </a:spcAft>
              <a:buNone/>
            </a:pPr>
            <a:r>
              <a:rPr lang="en-US" sz="1600" dirty="0">
                <a:solidFill>
                  <a:schemeClr val="bg1"/>
                </a:solidFill>
              </a:rPr>
              <a:t>240840116042</a:t>
            </a:r>
            <a:endParaRPr lang="en-US" sz="1600" dirty="0"/>
          </a:p>
          <a:p>
            <a:pPr marL="0" indent="0">
              <a:spcAft>
                <a:spcPts val="200"/>
              </a:spcAft>
              <a:buNone/>
            </a:pPr>
            <a:r>
              <a:rPr lang="en-US" sz="1600" dirty="0">
                <a:solidFill>
                  <a:schemeClr val="bg1"/>
                </a:solidFill>
              </a:rPr>
              <a:t>240840116047</a:t>
            </a:r>
            <a:endParaRPr lang="en-US" sz="1600" dirty="0"/>
          </a:p>
          <a:p>
            <a:pPr marL="0" indent="0">
              <a:spcAft>
                <a:spcPts val="200"/>
              </a:spcAft>
              <a:buNone/>
            </a:pPr>
            <a:r>
              <a:rPr lang="en-US" sz="1600" dirty="0">
                <a:solidFill>
                  <a:schemeClr val="bg1"/>
                </a:solidFill>
              </a:rPr>
              <a:t>240840116013</a:t>
            </a:r>
            <a:endParaRPr lang="en-US" sz="1600" dirty="0"/>
          </a:p>
          <a:p>
            <a:pPr marL="0" indent="0">
              <a:spcAft>
                <a:spcPts val="200"/>
              </a:spcAft>
              <a:buNone/>
            </a:pPr>
            <a:r>
              <a:rPr lang="en-US" sz="1600" dirty="0">
                <a:solidFill>
                  <a:schemeClr val="bg1"/>
                </a:solidFill>
              </a:rPr>
              <a:t>240840116036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rPr lang="en-US" dirty="0"/>
              <a:t>,</a:t>
            </a:r>
            <a:endParaRPr dirty="0"/>
          </a:p>
        </p:txBody>
      </p:sp>
      <p:sp>
        <p:nvSpPr>
          <p:cNvPr id="3" name="Rectangle 2"/>
          <p:cNvSpPr/>
          <p:nvPr/>
        </p:nvSpPr>
        <p:spPr>
          <a:xfrm>
            <a:off x="0" y="0"/>
            <a:ext cx="12192000" cy="1078992"/>
          </a:xfrm>
          <a:prstGeom prst="rect">
            <a:avLst/>
          </a:prstGeom>
          <a:solidFill>
            <a:srgbClr val="E2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201168"/>
            <a:ext cx="11155680" cy="594360"/>
          </a:xfrm>
          <a:prstGeom prst="rect">
            <a:avLst/>
          </a:prstGeom>
          <a:noFill/>
        </p:spPr>
        <p:txBody>
          <a:bodyPr wrap="none">
            <a:spAutoFit/>
          </a:bodyPr>
          <a:lstStyle/>
          <a:p>
            <a:pPr>
              <a:defRPr sz="3000" b="1">
                <a:solidFill>
                  <a:srgbClr val="FFFFFF"/>
                </a:solidFill>
                <a:latin typeface="Aptos Display"/>
              </a:defRPr>
            </a:pPr>
            <a:r>
              <a:t>Problem Statement</a:t>
            </a:r>
          </a:p>
        </p:txBody>
      </p:sp>
      <p:sp>
        <p:nvSpPr>
          <p:cNvPr id="5" name="TextBox 4"/>
          <p:cNvSpPr txBox="1"/>
          <p:nvPr/>
        </p:nvSpPr>
        <p:spPr>
          <a:xfrm>
            <a:off x="566928" y="1298448"/>
            <a:ext cx="10972800" cy="594360"/>
          </a:xfrm>
          <a:prstGeom prst="rect">
            <a:avLst/>
          </a:prstGeom>
          <a:noFill/>
        </p:spPr>
        <p:txBody>
          <a:bodyPr wrap="square" anchor="ctr">
            <a:spAutoFit/>
          </a:bodyPr>
          <a:lstStyle/>
          <a:p>
            <a:pPr>
              <a:defRPr sz="2000" b="1">
                <a:solidFill>
                  <a:srgbClr val="303030"/>
                </a:solidFill>
                <a:latin typeface="Aptos"/>
              </a:defRPr>
            </a:pPr>
            <a:r>
              <a:t>Analyze Zomato restaurant data to understand restaurant performance, customer ratings, pricing, online ordering, table booking, cuisine preferences, and geographic distribution.</a:t>
            </a:r>
          </a:p>
        </p:txBody>
      </p:sp>
      <p:sp>
        <p:nvSpPr>
          <p:cNvPr id="6" name="Rounded Rectangle 5"/>
          <p:cNvSpPr/>
          <p:nvPr/>
        </p:nvSpPr>
        <p:spPr>
          <a:xfrm>
            <a:off x="594360" y="2148840"/>
            <a:ext cx="5349240" cy="148132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58952" y="2331720"/>
            <a:ext cx="438912" cy="438912"/>
          </a:xfrm>
          <a:prstGeom prst="ellipse">
            <a:avLst/>
          </a:prstGeom>
          <a:solidFill>
            <a:srgbClr val="E2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01</a:t>
            </a:r>
          </a:p>
        </p:txBody>
      </p:sp>
      <p:sp>
        <p:nvSpPr>
          <p:cNvPr id="8" name="TextBox 7"/>
          <p:cNvSpPr txBox="1"/>
          <p:nvPr/>
        </p:nvSpPr>
        <p:spPr>
          <a:xfrm>
            <a:off x="1344168" y="2304288"/>
            <a:ext cx="4389120" cy="347472"/>
          </a:xfrm>
          <a:prstGeom prst="rect">
            <a:avLst/>
          </a:prstGeom>
          <a:noFill/>
        </p:spPr>
        <p:txBody>
          <a:bodyPr wrap="none">
            <a:spAutoFit/>
          </a:bodyPr>
          <a:lstStyle/>
          <a:p>
            <a:pPr>
              <a:defRPr sz="1600" b="1">
                <a:solidFill>
                  <a:srgbClr val="BE1B2B"/>
                </a:solidFill>
                <a:latin typeface="Aptos"/>
              </a:defRPr>
            </a:pPr>
            <a:r>
              <a:t>Raw and incomplete data</a:t>
            </a:r>
          </a:p>
        </p:txBody>
      </p:sp>
      <p:sp>
        <p:nvSpPr>
          <p:cNvPr id="9" name="TextBox 8"/>
          <p:cNvSpPr txBox="1"/>
          <p:nvPr/>
        </p:nvSpPr>
        <p:spPr>
          <a:xfrm>
            <a:off x="822960" y="2788920"/>
            <a:ext cx="4892040" cy="713232"/>
          </a:xfrm>
          <a:prstGeom prst="rect">
            <a:avLst/>
          </a:prstGeom>
          <a:noFill/>
        </p:spPr>
        <p:txBody>
          <a:bodyPr wrap="square">
            <a:spAutoFit/>
          </a:bodyPr>
          <a:lstStyle/>
          <a:p>
            <a:pPr>
              <a:defRPr sz="1300">
                <a:solidFill>
                  <a:srgbClr val="414141"/>
                </a:solidFill>
                <a:latin typeface="Aptos"/>
              </a:defRPr>
            </a:pPr>
            <a:r>
              <a:t>The dataset contains missing ratings and cost values, plus two unnecessary index columns.</a:t>
            </a:r>
          </a:p>
        </p:txBody>
      </p:sp>
      <p:sp>
        <p:nvSpPr>
          <p:cNvPr id="10" name="Rounded Rectangle 9"/>
          <p:cNvSpPr/>
          <p:nvPr/>
        </p:nvSpPr>
        <p:spPr>
          <a:xfrm>
            <a:off x="6217920" y="2148840"/>
            <a:ext cx="5349240" cy="148132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382512" y="2331720"/>
            <a:ext cx="438912" cy="438912"/>
          </a:xfrm>
          <a:prstGeom prst="ellipse">
            <a:avLst/>
          </a:prstGeom>
          <a:solidFill>
            <a:srgbClr val="E2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02</a:t>
            </a:r>
          </a:p>
        </p:txBody>
      </p:sp>
      <p:sp>
        <p:nvSpPr>
          <p:cNvPr id="12" name="TextBox 11"/>
          <p:cNvSpPr txBox="1"/>
          <p:nvPr/>
        </p:nvSpPr>
        <p:spPr>
          <a:xfrm>
            <a:off x="6967728" y="2304288"/>
            <a:ext cx="4389120" cy="347472"/>
          </a:xfrm>
          <a:prstGeom prst="rect">
            <a:avLst/>
          </a:prstGeom>
          <a:noFill/>
        </p:spPr>
        <p:txBody>
          <a:bodyPr wrap="none">
            <a:spAutoFit/>
          </a:bodyPr>
          <a:lstStyle/>
          <a:p>
            <a:pPr>
              <a:defRPr sz="1600" b="1">
                <a:solidFill>
                  <a:srgbClr val="BE1B2B"/>
                </a:solidFill>
                <a:latin typeface="Aptos"/>
              </a:defRPr>
            </a:pPr>
            <a:r>
              <a:t>Cuisine data is difficult to compare</a:t>
            </a:r>
          </a:p>
        </p:txBody>
      </p:sp>
      <p:sp>
        <p:nvSpPr>
          <p:cNvPr id="13" name="TextBox 12"/>
          <p:cNvSpPr txBox="1"/>
          <p:nvPr/>
        </p:nvSpPr>
        <p:spPr>
          <a:xfrm>
            <a:off x="6446520" y="2788920"/>
            <a:ext cx="4892040" cy="713232"/>
          </a:xfrm>
          <a:prstGeom prst="rect">
            <a:avLst/>
          </a:prstGeom>
          <a:noFill/>
        </p:spPr>
        <p:txBody>
          <a:bodyPr wrap="square">
            <a:spAutoFit/>
          </a:bodyPr>
          <a:lstStyle/>
          <a:p>
            <a:pPr>
              <a:defRPr sz="1300">
                <a:solidFill>
                  <a:srgbClr val="414141"/>
                </a:solidFill>
                <a:latin typeface="Aptos"/>
              </a:defRPr>
            </a:pPr>
            <a:r>
              <a:t>Many restaurants list multiple cuisines, making direct category analysis harder.</a:t>
            </a:r>
          </a:p>
        </p:txBody>
      </p:sp>
      <p:sp>
        <p:nvSpPr>
          <p:cNvPr id="14" name="Rounded Rectangle 13"/>
          <p:cNvSpPr/>
          <p:nvPr/>
        </p:nvSpPr>
        <p:spPr>
          <a:xfrm>
            <a:off x="594360" y="3977639"/>
            <a:ext cx="5349240" cy="148132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58952" y="4160520"/>
            <a:ext cx="438912" cy="438912"/>
          </a:xfrm>
          <a:prstGeom prst="ellipse">
            <a:avLst/>
          </a:prstGeom>
          <a:solidFill>
            <a:srgbClr val="E2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03</a:t>
            </a:r>
          </a:p>
        </p:txBody>
      </p:sp>
      <p:sp>
        <p:nvSpPr>
          <p:cNvPr id="16" name="TextBox 15"/>
          <p:cNvSpPr txBox="1"/>
          <p:nvPr/>
        </p:nvSpPr>
        <p:spPr>
          <a:xfrm>
            <a:off x="1344168" y="4133087"/>
            <a:ext cx="4389120" cy="347472"/>
          </a:xfrm>
          <a:prstGeom prst="rect">
            <a:avLst/>
          </a:prstGeom>
          <a:noFill/>
        </p:spPr>
        <p:txBody>
          <a:bodyPr wrap="none">
            <a:spAutoFit/>
          </a:bodyPr>
          <a:lstStyle/>
          <a:p>
            <a:pPr>
              <a:defRPr sz="1600" b="1">
                <a:solidFill>
                  <a:srgbClr val="BE1B2B"/>
                </a:solidFill>
                <a:latin typeface="Aptos"/>
              </a:defRPr>
            </a:pPr>
            <a:r>
              <a:t>Important patterns are hidden</a:t>
            </a:r>
          </a:p>
        </p:txBody>
      </p:sp>
      <p:sp>
        <p:nvSpPr>
          <p:cNvPr id="17" name="TextBox 16"/>
          <p:cNvSpPr txBox="1"/>
          <p:nvPr/>
        </p:nvSpPr>
        <p:spPr>
          <a:xfrm>
            <a:off x="822960" y="4617720"/>
            <a:ext cx="4892040" cy="713232"/>
          </a:xfrm>
          <a:prstGeom prst="rect">
            <a:avLst/>
          </a:prstGeom>
          <a:noFill/>
        </p:spPr>
        <p:txBody>
          <a:bodyPr wrap="square">
            <a:spAutoFit/>
          </a:bodyPr>
          <a:lstStyle/>
          <a:p>
            <a:pPr>
              <a:defRPr sz="1300">
                <a:solidFill>
                  <a:srgbClr val="414141"/>
                </a:solidFill>
                <a:latin typeface="Aptos"/>
              </a:defRPr>
            </a:pPr>
            <a:r>
              <a:t>With 7,105 restaurant records, it is difficult to quickly compare ratings, prices, areas and services.</a:t>
            </a:r>
          </a:p>
        </p:txBody>
      </p:sp>
      <p:sp>
        <p:nvSpPr>
          <p:cNvPr id="18" name="Rounded Rectangle 17"/>
          <p:cNvSpPr/>
          <p:nvPr/>
        </p:nvSpPr>
        <p:spPr>
          <a:xfrm>
            <a:off x="6217920" y="3977639"/>
            <a:ext cx="5349240" cy="1481328"/>
          </a:xfrm>
          <a:prstGeom prst="round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82512" y="4160520"/>
            <a:ext cx="438912" cy="438912"/>
          </a:xfrm>
          <a:prstGeom prst="ellipse">
            <a:avLst/>
          </a:prstGeom>
          <a:solidFill>
            <a:srgbClr val="E2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04</a:t>
            </a:r>
          </a:p>
        </p:txBody>
      </p:sp>
      <p:sp>
        <p:nvSpPr>
          <p:cNvPr id="20" name="TextBox 19"/>
          <p:cNvSpPr txBox="1"/>
          <p:nvPr/>
        </p:nvSpPr>
        <p:spPr>
          <a:xfrm>
            <a:off x="6967728" y="4133087"/>
            <a:ext cx="4389120" cy="347472"/>
          </a:xfrm>
          <a:prstGeom prst="rect">
            <a:avLst/>
          </a:prstGeom>
          <a:noFill/>
        </p:spPr>
        <p:txBody>
          <a:bodyPr wrap="none">
            <a:spAutoFit/>
          </a:bodyPr>
          <a:lstStyle/>
          <a:p>
            <a:pPr>
              <a:defRPr sz="1600" b="1">
                <a:solidFill>
                  <a:srgbClr val="BE1B2B"/>
                </a:solidFill>
                <a:latin typeface="Aptos"/>
              </a:defRPr>
            </a:pPr>
            <a:r>
              <a:t>Business decisions need evidence</a:t>
            </a:r>
          </a:p>
        </p:txBody>
      </p:sp>
      <p:sp>
        <p:nvSpPr>
          <p:cNvPr id="21" name="TextBox 20"/>
          <p:cNvSpPr txBox="1"/>
          <p:nvPr/>
        </p:nvSpPr>
        <p:spPr>
          <a:xfrm>
            <a:off x="6446520" y="4617720"/>
            <a:ext cx="4892040" cy="713232"/>
          </a:xfrm>
          <a:prstGeom prst="rect">
            <a:avLst/>
          </a:prstGeom>
          <a:noFill/>
        </p:spPr>
        <p:txBody>
          <a:bodyPr wrap="square">
            <a:spAutoFit/>
          </a:bodyPr>
          <a:lstStyle/>
          <a:p>
            <a:pPr>
              <a:defRPr sz="1300">
                <a:solidFill>
                  <a:srgbClr val="414141"/>
                </a:solidFill>
                <a:latin typeface="Aptos"/>
              </a:defRPr>
            </a:pPr>
            <a:r>
              <a:t>Zomato needs clear insights to identify improvement opportunities in online ordering, table booking and customer experience.</a:t>
            </a:r>
          </a:p>
        </p:txBody>
      </p:sp>
      <p:sp>
        <p:nvSpPr>
          <p:cNvPr id="22" name="Rounded Rectangle 21"/>
          <p:cNvSpPr/>
          <p:nvPr/>
        </p:nvSpPr>
        <p:spPr>
          <a:xfrm>
            <a:off x="594360" y="5806440"/>
            <a:ext cx="10972800" cy="566928"/>
          </a:xfrm>
          <a:prstGeom prst="roundRect">
            <a:avLst/>
          </a:prstGeom>
          <a:solidFill>
            <a:srgbClr val="FFEB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D141E"/>
                </a:solidFill>
                <a:latin typeface="Aptos"/>
              </a:defRPr>
            </a:pPr>
            <a:r>
              <a:t>Our objective: Clean and process the data, build an interactive Power BI dashboard, and recommend data-driven actions for Zomato.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lIns="0" tIns="0" rIns="0" bIns="0" rtlCol="0" anchor="ctr"/>
          <a:lstStyle/>
          <a:p>
            <a:pPr marL="0" indent="0" algn="l">
              <a:buNone/>
            </a:pPr>
            <a:r>
              <a:rPr lang="en-US" sz="3600" b="1" dirty="0">
                <a:solidFill>
                  <a:schemeClr val="tx1"/>
                </a:solidFill>
              </a:rPr>
              <a:t>Observations from the raw data</a:t>
            </a:r>
            <a:endParaRPr lang="en-US" sz="3600" dirty="0"/>
          </a:p>
        </p:txBody>
      </p:sp>
      <p:sp>
        <p:nvSpPr>
          <p:cNvPr id="3" name="Observation card 1"/>
          <p:cNvSpPr/>
          <p:nvPr/>
        </p:nvSpPr>
        <p:spPr>
          <a:xfrm>
            <a:off x="457200" y="1463040"/>
            <a:ext cx="5468112" cy="2286000"/>
          </a:xfrm>
          <a:prstGeom prst="roundRect">
            <a:avLst>
              <a:gd name="adj" fmla="val 4000"/>
            </a:avLst>
          </a:prstGeom>
          <a:solidFill>
            <a:schemeClr val="bg2"/>
          </a:solidFill>
          <a:ln/>
        </p:spPr>
      </p:sp>
      <p:sp>
        <p:nvSpPr>
          <p:cNvPr id="4" name="Icon circle"/>
          <p:cNvSpPr/>
          <p:nvPr/>
        </p:nvSpPr>
        <p:spPr>
          <a:xfrm>
            <a:off x="777240" y="1828800"/>
            <a:ext cx="777240" cy="777240"/>
          </a:xfrm>
          <a:prstGeom prst="ellipse">
            <a:avLst/>
          </a:prstGeom>
          <a:solidFill>
            <a:schemeClr val="accent1"/>
          </a:solidFill>
          <a:ln/>
        </p:spPr>
      </p:sp>
      <p:pic>
        <p:nvPicPr>
          <p:cNvPr id="5" name="Icon" descr="preencoded.png"/>
          <p:cNvPicPr>
            <a:picLocks noChangeAspect="1"/>
          </p:cNvPicPr>
          <p:nvPr/>
        </p:nvPicPr>
        <p:blipFill>
          <a:blip r:embed="rId3"/>
          <a:stretch>
            <a:fillRect/>
          </a:stretch>
        </p:blipFill>
        <p:spPr>
          <a:xfrm>
            <a:off x="979322" y="2030882"/>
            <a:ext cx="373075" cy="373075"/>
          </a:xfrm>
          <a:prstGeom prst="rect">
            <a:avLst/>
          </a:prstGeom>
        </p:spPr>
      </p:pic>
      <p:sp>
        <p:nvSpPr>
          <p:cNvPr id="6" name="Text 3"/>
          <p:cNvSpPr txBox="1"/>
          <p:nvPr/>
        </p:nvSpPr>
        <p:spPr>
          <a:xfrm>
            <a:off x="1828800" y="1691640"/>
            <a:ext cx="3931920" cy="5943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7,105 × 12</a:t>
            </a:r>
            <a:endParaRPr lang="en-US" sz="3200" dirty="0"/>
          </a:p>
        </p:txBody>
      </p:sp>
      <p:sp>
        <p:nvSpPr>
          <p:cNvPr id="7" name="Text 4"/>
          <p:cNvSpPr txBox="1"/>
          <p:nvPr/>
        </p:nvSpPr>
        <p:spPr>
          <a:xfrm>
            <a:off x="1828800" y="2304288"/>
            <a:ext cx="3931920" cy="320040"/>
          </a:xfrm>
          <a:prstGeom prst="rect">
            <a:avLst/>
          </a:prstGeom>
          <a:noFill/>
          <a:ln/>
        </p:spPr>
        <p:txBody>
          <a:bodyPr wrap="square" lIns="0" tIns="0" rIns="0" bIns="0" rtlCol="0" anchor="t"/>
          <a:lstStyle/>
          <a:p>
            <a:pPr marL="0" indent="0">
              <a:buNone/>
            </a:pPr>
            <a:r>
              <a:rPr lang="en-US" sz="1600" b="1" dirty="0">
                <a:solidFill>
                  <a:schemeClr val="tx1"/>
                </a:solidFill>
              </a:rPr>
              <a:t>Raw dataset size</a:t>
            </a:r>
            <a:endParaRPr lang="en-US" sz="1600" dirty="0"/>
          </a:p>
        </p:txBody>
      </p:sp>
      <p:sp>
        <p:nvSpPr>
          <p:cNvPr id="8" name="Text 5"/>
          <p:cNvSpPr txBox="1"/>
          <p:nvPr/>
        </p:nvSpPr>
        <p:spPr>
          <a:xfrm>
            <a:off x="1828800" y="2670048"/>
            <a:ext cx="3840480" cy="914400"/>
          </a:xfrm>
          <a:prstGeom prst="rect">
            <a:avLst/>
          </a:prstGeom>
          <a:noFill/>
          <a:ln/>
        </p:spPr>
        <p:txBody>
          <a:bodyPr wrap="square" lIns="0" tIns="0" rIns="0" bIns="0" rtlCol="0" anchor="t"/>
          <a:lstStyle/>
          <a:p>
            <a:pPr marL="0" indent="0">
              <a:buNone/>
            </a:pPr>
            <a:r>
              <a:rPr lang="en-US" sz="1400" dirty="0">
                <a:solidFill>
                  <a:schemeClr val="tx2"/>
                </a:solidFill>
              </a:rPr>
              <a:t>7,105 restaurants and 12 columns across 30 Bangalore areas, including 2 unnamed index columns.</a:t>
            </a:r>
            <a:endParaRPr lang="en-US" sz="1400" dirty="0"/>
          </a:p>
        </p:txBody>
      </p:sp>
      <p:sp>
        <p:nvSpPr>
          <p:cNvPr id="9" name="Observation card 2"/>
          <p:cNvSpPr/>
          <p:nvPr/>
        </p:nvSpPr>
        <p:spPr>
          <a:xfrm>
            <a:off x="6263640" y="1463040"/>
            <a:ext cx="5468112" cy="2286000"/>
          </a:xfrm>
          <a:prstGeom prst="roundRect">
            <a:avLst>
              <a:gd name="adj" fmla="val 4000"/>
            </a:avLst>
          </a:prstGeom>
          <a:solidFill>
            <a:schemeClr val="bg2"/>
          </a:solidFill>
          <a:ln/>
        </p:spPr>
      </p:sp>
      <p:sp>
        <p:nvSpPr>
          <p:cNvPr id="10" name="Icon circle"/>
          <p:cNvSpPr/>
          <p:nvPr/>
        </p:nvSpPr>
        <p:spPr>
          <a:xfrm>
            <a:off x="6583680" y="1828800"/>
            <a:ext cx="777240" cy="777240"/>
          </a:xfrm>
          <a:prstGeom prst="ellipse">
            <a:avLst/>
          </a:prstGeom>
          <a:solidFill>
            <a:schemeClr val="accent1"/>
          </a:solidFill>
          <a:ln/>
        </p:spPr>
      </p:sp>
      <p:pic>
        <p:nvPicPr>
          <p:cNvPr id="11" name="Icon" descr="preencoded.png"/>
          <p:cNvPicPr>
            <a:picLocks noChangeAspect="1"/>
          </p:cNvPicPr>
          <p:nvPr/>
        </p:nvPicPr>
        <p:blipFill>
          <a:blip r:embed="rId4"/>
          <a:stretch>
            <a:fillRect/>
          </a:stretch>
        </p:blipFill>
        <p:spPr>
          <a:xfrm>
            <a:off x="6785762" y="2030882"/>
            <a:ext cx="373075" cy="373075"/>
          </a:xfrm>
          <a:prstGeom prst="rect">
            <a:avLst/>
          </a:prstGeom>
        </p:spPr>
      </p:pic>
      <p:sp>
        <p:nvSpPr>
          <p:cNvPr id="12" name="Text 8"/>
          <p:cNvSpPr txBox="1"/>
          <p:nvPr/>
        </p:nvSpPr>
        <p:spPr>
          <a:xfrm>
            <a:off x="7635240" y="1691640"/>
            <a:ext cx="3931920" cy="5943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125 gaps</a:t>
            </a:r>
            <a:endParaRPr lang="en-US" sz="3200" dirty="0"/>
          </a:p>
        </p:txBody>
      </p:sp>
      <p:sp>
        <p:nvSpPr>
          <p:cNvPr id="13" name="Text 9"/>
          <p:cNvSpPr txBox="1"/>
          <p:nvPr/>
        </p:nvSpPr>
        <p:spPr>
          <a:xfrm>
            <a:off x="7635240" y="2304288"/>
            <a:ext cx="3931920" cy="320040"/>
          </a:xfrm>
          <a:prstGeom prst="rect">
            <a:avLst/>
          </a:prstGeom>
          <a:noFill/>
          <a:ln/>
        </p:spPr>
        <p:txBody>
          <a:bodyPr wrap="square" lIns="0" tIns="0" rIns="0" bIns="0" rtlCol="0" anchor="t"/>
          <a:lstStyle/>
          <a:p>
            <a:pPr marL="0" indent="0">
              <a:buNone/>
            </a:pPr>
            <a:r>
              <a:rPr lang="en-US" sz="1600" b="1" dirty="0">
                <a:solidFill>
                  <a:schemeClr val="tx1"/>
                </a:solidFill>
              </a:rPr>
              <a:t>Missing rating and cost</a:t>
            </a:r>
            <a:endParaRPr lang="en-US" sz="1600" dirty="0"/>
          </a:p>
        </p:txBody>
      </p:sp>
      <p:sp>
        <p:nvSpPr>
          <p:cNvPr id="14" name="Text 10"/>
          <p:cNvSpPr txBox="1"/>
          <p:nvPr/>
        </p:nvSpPr>
        <p:spPr>
          <a:xfrm>
            <a:off x="7635240" y="2670048"/>
            <a:ext cx="3840480" cy="914400"/>
          </a:xfrm>
          <a:prstGeom prst="rect">
            <a:avLst/>
          </a:prstGeom>
          <a:noFill/>
          <a:ln/>
        </p:spPr>
        <p:txBody>
          <a:bodyPr wrap="square" lIns="0" tIns="0" rIns="0" bIns="0" rtlCol="0" anchor="t"/>
          <a:lstStyle/>
          <a:p>
            <a:pPr marL="0" indent="0">
              <a:buNone/>
            </a:pPr>
            <a:r>
              <a:rPr lang="en-US" sz="1400" dirty="0">
                <a:solidFill>
                  <a:schemeClr val="tx2"/>
                </a:solidFill>
              </a:rPr>
              <a:t>68 restaurants have no rating and 57 have no cost, affecting 121 restaurants in total.</a:t>
            </a:r>
            <a:endParaRPr lang="en-US" sz="1400" dirty="0"/>
          </a:p>
        </p:txBody>
      </p:sp>
      <p:sp>
        <p:nvSpPr>
          <p:cNvPr id="15" name="Observation card 3"/>
          <p:cNvSpPr/>
          <p:nvPr/>
        </p:nvSpPr>
        <p:spPr>
          <a:xfrm>
            <a:off x="457200" y="3931920"/>
            <a:ext cx="5468112" cy="2286000"/>
          </a:xfrm>
          <a:prstGeom prst="roundRect">
            <a:avLst>
              <a:gd name="adj" fmla="val 4000"/>
            </a:avLst>
          </a:prstGeom>
          <a:solidFill>
            <a:schemeClr val="bg2"/>
          </a:solidFill>
          <a:ln/>
        </p:spPr>
      </p:sp>
      <p:sp>
        <p:nvSpPr>
          <p:cNvPr id="16" name="Icon circle"/>
          <p:cNvSpPr/>
          <p:nvPr/>
        </p:nvSpPr>
        <p:spPr>
          <a:xfrm>
            <a:off x="777240" y="4297680"/>
            <a:ext cx="777240" cy="777240"/>
          </a:xfrm>
          <a:prstGeom prst="ellipse">
            <a:avLst/>
          </a:prstGeom>
          <a:solidFill>
            <a:schemeClr val="accent1"/>
          </a:solidFill>
          <a:ln/>
        </p:spPr>
      </p:sp>
      <p:pic>
        <p:nvPicPr>
          <p:cNvPr id="17" name="Icon" descr="preencoded.png"/>
          <p:cNvPicPr>
            <a:picLocks noChangeAspect="1"/>
          </p:cNvPicPr>
          <p:nvPr/>
        </p:nvPicPr>
        <p:blipFill>
          <a:blip r:embed="rId5"/>
          <a:stretch>
            <a:fillRect/>
          </a:stretch>
        </p:blipFill>
        <p:spPr>
          <a:xfrm>
            <a:off x="979322" y="4499762"/>
            <a:ext cx="373075" cy="373075"/>
          </a:xfrm>
          <a:prstGeom prst="rect">
            <a:avLst/>
          </a:prstGeom>
        </p:spPr>
      </p:pic>
      <p:sp>
        <p:nvSpPr>
          <p:cNvPr id="18" name="Text 13"/>
          <p:cNvSpPr txBox="1"/>
          <p:nvPr/>
        </p:nvSpPr>
        <p:spPr>
          <a:xfrm>
            <a:off x="1828800" y="4160520"/>
            <a:ext cx="3931920" cy="5943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74%</a:t>
            </a:r>
            <a:endParaRPr lang="en-US" sz="3200" dirty="0"/>
          </a:p>
        </p:txBody>
      </p:sp>
      <p:sp>
        <p:nvSpPr>
          <p:cNvPr id="19" name="Text 14"/>
          <p:cNvSpPr txBox="1"/>
          <p:nvPr/>
        </p:nvSpPr>
        <p:spPr>
          <a:xfrm>
            <a:off x="1828800" y="4773168"/>
            <a:ext cx="3931920" cy="320040"/>
          </a:xfrm>
          <a:prstGeom prst="rect">
            <a:avLst/>
          </a:prstGeom>
          <a:noFill/>
          <a:ln/>
        </p:spPr>
        <p:txBody>
          <a:bodyPr wrap="square" lIns="0" tIns="0" rIns="0" bIns="0" rtlCol="0" anchor="t"/>
          <a:lstStyle/>
          <a:p>
            <a:pPr marL="0" indent="0">
              <a:buNone/>
            </a:pPr>
            <a:r>
              <a:rPr lang="en-US" sz="1600" b="1" dirty="0">
                <a:solidFill>
                  <a:schemeClr val="tx1"/>
                </a:solidFill>
              </a:rPr>
              <a:t>List more than one cuisine</a:t>
            </a:r>
            <a:endParaRPr lang="en-US" sz="1600" dirty="0"/>
          </a:p>
        </p:txBody>
      </p:sp>
      <p:sp>
        <p:nvSpPr>
          <p:cNvPr id="20" name="Text 15"/>
          <p:cNvSpPr txBox="1"/>
          <p:nvPr/>
        </p:nvSpPr>
        <p:spPr>
          <a:xfrm>
            <a:off x="1828800" y="5138928"/>
            <a:ext cx="3840480" cy="914400"/>
          </a:xfrm>
          <a:prstGeom prst="rect">
            <a:avLst/>
          </a:prstGeom>
          <a:noFill/>
          <a:ln/>
        </p:spPr>
        <p:txBody>
          <a:bodyPr wrap="square" lIns="0" tIns="0" rIns="0" bIns="0" rtlCol="0" anchor="t"/>
          <a:lstStyle/>
          <a:p>
            <a:pPr marL="0" indent="0">
              <a:buNone/>
            </a:pPr>
            <a:r>
              <a:rPr lang="en-US" sz="1400" dirty="0">
                <a:solidFill>
                  <a:schemeClr val="tx2"/>
                </a:solidFill>
              </a:rPr>
              <a:t>5,282 restaurants list 2 or more cuisines, giving 2,175 unique combinations that cannot be charted as they are.</a:t>
            </a:r>
            <a:endParaRPr lang="en-US" sz="1400" dirty="0"/>
          </a:p>
        </p:txBody>
      </p:sp>
      <p:sp>
        <p:nvSpPr>
          <p:cNvPr id="21" name="Observation card 4"/>
          <p:cNvSpPr/>
          <p:nvPr/>
        </p:nvSpPr>
        <p:spPr>
          <a:xfrm>
            <a:off x="6263640" y="3931920"/>
            <a:ext cx="5468112" cy="2286000"/>
          </a:xfrm>
          <a:prstGeom prst="roundRect">
            <a:avLst>
              <a:gd name="adj" fmla="val 4000"/>
            </a:avLst>
          </a:prstGeom>
          <a:solidFill>
            <a:schemeClr val="bg2"/>
          </a:solidFill>
          <a:ln/>
        </p:spPr>
      </p:sp>
      <p:sp>
        <p:nvSpPr>
          <p:cNvPr id="22" name="Icon circle"/>
          <p:cNvSpPr/>
          <p:nvPr/>
        </p:nvSpPr>
        <p:spPr>
          <a:xfrm>
            <a:off x="6583680" y="4297680"/>
            <a:ext cx="777240" cy="777240"/>
          </a:xfrm>
          <a:prstGeom prst="ellipse">
            <a:avLst/>
          </a:prstGeom>
          <a:solidFill>
            <a:schemeClr val="accent1"/>
          </a:solidFill>
          <a:ln/>
        </p:spPr>
      </p:sp>
      <p:pic>
        <p:nvPicPr>
          <p:cNvPr id="23" name="Icon" descr="preencoded.png"/>
          <p:cNvPicPr>
            <a:picLocks noChangeAspect="1"/>
          </p:cNvPicPr>
          <p:nvPr/>
        </p:nvPicPr>
        <p:blipFill>
          <a:blip r:embed="rId6"/>
          <a:stretch>
            <a:fillRect/>
          </a:stretch>
        </p:blipFill>
        <p:spPr>
          <a:xfrm>
            <a:off x="6785762" y="4499762"/>
            <a:ext cx="373075" cy="373075"/>
          </a:xfrm>
          <a:prstGeom prst="rect">
            <a:avLst/>
          </a:prstGeom>
        </p:spPr>
      </p:pic>
      <p:sp>
        <p:nvSpPr>
          <p:cNvPr id="24" name="Text 18"/>
          <p:cNvSpPr txBox="1"/>
          <p:nvPr/>
        </p:nvSpPr>
        <p:spPr>
          <a:xfrm>
            <a:off x="7635240" y="4160520"/>
            <a:ext cx="3931920" cy="594360"/>
          </a:xfrm>
          <a:prstGeom prst="rect">
            <a:avLst/>
          </a:prstGeom>
          <a:noFill/>
          <a:ln/>
        </p:spPr>
        <p:txBody>
          <a:bodyPr wrap="square" lIns="0" tIns="0" rIns="0" bIns="0" rtlCol="0" anchor="t"/>
          <a:lstStyle/>
          <a:p>
            <a:pPr marL="0" indent="0">
              <a:buNone/>
            </a:pPr>
            <a:r>
              <a:rPr lang="en-US" sz="3200" b="1" dirty="0">
                <a:solidFill>
                  <a:schemeClr val="accent2"/>
                </a:solidFill>
                <a:latin typeface="Cambria" pitchFamily="34" charset="0"/>
                <a:ea typeface="Cambria" pitchFamily="34" charset="-122"/>
                <a:cs typeface="Cambria" pitchFamily="34" charset="-120"/>
              </a:rPr>
              <a:t>₹6,000 max</a:t>
            </a:r>
            <a:endParaRPr lang="en-US" sz="3200" dirty="0"/>
          </a:p>
        </p:txBody>
      </p:sp>
      <p:sp>
        <p:nvSpPr>
          <p:cNvPr id="25" name="Text 19"/>
          <p:cNvSpPr txBox="1"/>
          <p:nvPr/>
        </p:nvSpPr>
        <p:spPr>
          <a:xfrm>
            <a:off x="7635240" y="4773168"/>
            <a:ext cx="3931920" cy="320040"/>
          </a:xfrm>
          <a:prstGeom prst="rect">
            <a:avLst/>
          </a:prstGeom>
          <a:noFill/>
          <a:ln/>
        </p:spPr>
        <p:txBody>
          <a:bodyPr wrap="square" lIns="0" tIns="0" rIns="0" bIns="0" rtlCol="0" anchor="t"/>
          <a:lstStyle/>
          <a:p>
            <a:pPr marL="0" indent="0">
              <a:buNone/>
            </a:pPr>
            <a:r>
              <a:rPr lang="en-US" sz="1600" b="1" dirty="0">
                <a:solidFill>
                  <a:schemeClr val="tx1"/>
                </a:solidFill>
              </a:rPr>
              <a:t>Skewed cost for two</a:t>
            </a:r>
            <a:endParaRPr lang="en-US" sz="1600" dirty="0"/>
          </a:p>
        </p:txBody>
      </p:sp>
      <p:sp>
        <p:nvSpPr>
          <p:cNvPr id="26" name="Text 20"/>
          <p:cNvSpPr txBox="1"/>
          <p:nvPr/>
        </p:nvSpPr>
        <p:spPr>
          <a:xfrm>
            <a:off x="7635240" y="5138928"/>
            <a:ext cx="3840480" cy="914400"/>
          </a:xfrm>
          <a:prstGeom prst="rect">
            <a:avLst/>
          </a:prstGeom>
          <a:noFill/>
          <a:ln/>
        </p:spPr>
        <p:txBody>
          <a:bodyPr wrap="square" lIns="0" tIns="0" rIns="0" bIns="0" rtlCol="0" anchor="t"/>
          <a:lstStyle/>
          <a:p>
            <a:pPr marL="0" indent="0">
              <a:buNone/>
            </a:pPr>
            <a:r>
              <a:rPr lang="en-US" sz="1400" dirty="0">
                <a:solidFill>
                  <a:schemeClr val="tx2"/>
                </a:solidFill>
              </a:rPr>
              <a:t>The median is ₹400 but the average is ₹540, because a few very expensive restaurants pull it up.</a:t>
            </a:r>
            <a:endParaRPr lang="en-US" sz="1400" dirty="0"/>
          </a:p>
        </p:txBody>
      </p:sp>
      <p:sp>
        <p:nvSpPr>
          <p:cNvPr id="27"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lIns="0" tIns="0" rIns="0" bIns="0" rtlCol="0" anchor="ctr"/>
          <a:lstStyle/>
          <a:p>
            <a:pPr marL="0" indent="0" algn="l">
              <a:buNone/>
            </a:pPr>
            <a:r>
              <a:rPr lang="en-US" sz="3600" b="1" dirty="0">
                <a:solidFill>
                  <a:schemeClr val="tx1"/>
                </a:solidFill>
              </a:rPr>
              <a:t>From raw data to final data</a:t>
            </a:r>
            <a:endParaRPr lang="en-US" sz="3600" dirty="0"/>
          </a:p>
        </p:txBody>
      </p:sp>
      <p:sp>
        <p:nvSpPr>
          <p:cNvPr id="3" name="Step card 1"/>
          <p:cNvSpPr/>
          <p:nvPr/>
        </p:nvSpPr>
        <p:spPr>
          <a:xfrm>
            <a:off x="457200" y="1463040"/>
            <a:ext cx="2035454" cy="2743200"/>
          </a:xfrm>
          <a:prstGeom prst="roundRect">
            <a:avLst>
              <a:gd name="adj" fmla="val 4492"/>
            </a:avLst>
          </a:prstGeom>
          <a:solidFill>
            <a:schemeClr val="bg2"/>
          </a:solidFill>
          <a:ln/>
        </p:spPr>
      </p:sp>
      <p:sp>
        <p:nvSpPr>
          <p:cNvPr id="4" name="Step number"/>
          <p:cNvSpPr/>
          <p:nvPr/>
        </p:nvSpPr>
        <p:spPr>
          <a:xfrm>
            <a:off x="685800" y="1691640"/>
            <a:ext cx="502920" cy="502920"/>
          </a:xfrm>
          <a:prstGeom prst="ellipse">
            <a:avLst/>
          </a:prstGeom>
          <a:solidFill>
            <a:schemeClr val="accent1"/>
          </a:solidFill>
          <a:ln/>
        </p:spPr>
      </p:sp>
      <p:sp>
        <p:nvSpPr>
          <p:cNvPr id="5" name="Text 3"/>
          <p:cNvSpPr txBox="1"/>
          <p:nvPr/>
        </p:nvSpPr>
        <p:spPr>
          <a:xfrm>
            <a:off x="685800" y="16916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4"/>
          <p:cNvSpPr txBox="1"/>
          <p:nvPr/>
        </p:nvSpPr>
        <p:spPr>
          <a:xfrm>
            <a:off x="685800" y="2377440"/>
            <a:ext cx="1669694" cy="365760"/>
          </a:xfrm>
          <a:prstGeom prst="rect">
            <a:avLst/>
          </a:prstGeom>
          <a:noFill/>
          <a:ln/>
        </p:spPr>
        <p:txBody>
          <a:bodyPr wrap="square" lIns="0" tIns="0" rIns="0" bIns="0" rtlCol="0" anchor="t"/>
          <a:lstStyle/>
          <a:p>
            <a:pPr marL="0" indent="0">
              <a:buNone/>
            </a:pPr>
            <a:r>
              <a:rPr lang="en-US" sz="1800" b="1" dirty="0">
                <a:solidFill>
                  <a:schemeClr val="tx1"/>
                </a:solidFill>
              </a:rPr>
              <a:t>Load</a:t>
            </a:r>
            <a:endParaRPr lang="en-US" sz="1800" dirty="0"/>
          </a:p>
        </p:txBody>
      </p:sp>
      <p:sp>
        <p:nvSpPr>
          <p:cNvPr id="7" name="Text 5"/>
          <p:cNvSpPr txBox="1"/>
          <p:nvPr/>
        </p:nvSpPr>
        <p:spPr>
          <a:xfrm>
            <a:off x="685800" y="2834640"/>
            <a:ext cx="1669694" cy="1280160"/>
          </a:xfrm>
          <a:prstGeom prst="rect">
            <a:avLst/>
          </a:prstGeom>
          <a:noFill/>
          <a:ln/>
        </p:spPr>
        <p:txBody>
          <a:bodyPr wrap="square" lIns="0" tIns="0" rIns="0" bIns="0" rtlCol="0" anchor="t"/>
          <a:lstStyle/>
          <a:p>
            <a:pPr marL="0" indent="0">
              <a:buNone/>
            </a:pPr>
            <a:r>
              <a:rPr lang="en-US" sz="1400" dirty="0">
                <a:solidFill>
                  <a:schemeClr val="tx2"/>
                </a:solidFill>
              </a:rPr>
              <a:t>Read the CSV in Google Colab with Latin-1 encoding.</a:t>
            </a:r>
            <a:endParaRPr lang="en-US" sz="1400" dirty="0"/>
          </a:p>
        </p:txBody>
      </p:sp>
      <p:sp>
        <p:nvSpPr>
          <p:cNvPr id="8" name="Step card 2"/>
          <p:cNvSpPr/>
          <p:nvPr/>
        </p:nvSpPr>
        <p:spPr>
          <a:xfrm>
            <a:off x="2766974" y="1463040"/>
            <a:ext cx="2035454" cy="2743200"/>
          </a:xfrm>
          <a:prstGeom prst="roundRect">
            <a:avLst>
              <a:gd name="adj" fmla="val 4492"/>
            </a:avLst>
          </a:prstGeom>
          <a:solidFill>
            <a:schemeClr val="bg2"/>
          </a:solidFill>
          <a:ln/>
        </p:spPr>
      </p:sp>
      <p:sp>
        <p:nvSpPr>
          <p:cNvPr id="9" name="Step number"/>
          <p:cNvSpPr/>
          <p:nvPr/>
        </p:nvSpPr>
        <p:spPr>
          <a:xfrm>
            <a:off x="2995574" y="1691640"/>
            <a:ext cx="502920" cy="502920"/>
          </a:xfrm>
          <a:prstGeom prst="ellipse">
            <a:avLst/>
          </a:prstGeom>
          <a:solidFill>
            <a:schemeClr val="accent1"/>
          </a:solidFill>
          <a:ln/>
        </p:spPr>
      </p:sp>
      <p:sp>
        <p:nvSpPr>
          <p:cNvPr id="10" name="Text 8"/>
          <p:cNvSpPr txBox="1"/>
          <p:nvPr/>
        </p:nvSpPr>
        <p:spPr>
          <a:xfrm>
            <a:off x="2995574" y="16916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9"/>
          <p:cNvSpPr txBox="1"/>
          <p:nvPr/>
        </p:nvSpPr>
        <p:spPr>
          <a:xfrm>
            <a:off x="2995574" y="2377440"/>
            <a:ext cx="1669694" cy="365760"/>
          </a:xfrm>
          <a:prstGeom prst="rect">
            <a:avLst/>
          </a:prstGeom>
          <a:noFill/>
          <a:ln/>
        </p:spPr>
        <p:txBody>
          <a:bodyPr wrap="square" lIns="0" tIns="0" rIns="0" bIns="0" rtlCol="0" anchor="t"/>
          <a:lstStyle/>
          <a:p>
            <a:pPr marL="0" indent="0">
              <a:buNone/>
            </a:pPr>
            <a:r>
              <a:rPr lang="en-US" sz="1800" b="1" dirty="0">
                <a:solidFill>
                  <a:schemeClr val="tx1"/>
                </a:solidFill>
              </a:rPr>
              <a:t>Drop</a:t>
            </a:r>
            <a:endParaRPr lang="en-US" sz="1800" dirty="0"/>
          </a:p>
        </p:txBody>
      </p:sp>
      <p:sp>
        <p:nvSpPr>
          <p:cNvPr id="12" name="Text 10"/>
          <p:cNvSpPr txBox="1"/>
          <p:nvPr/>
        </p:nvSpPr>
        <p:spPr>
          <a:xfrm>
            <a:off x="2995574" y="2834640"/>
            <a:ext cx="1669694" cy="1280160"/>
          </a:xfrm>
          <a:prstGeom prst="rect">
            <a:avLst/>
          </a:prstGeom>
          <a:noFill/>
          <a:ln/>
        </p:spPr>
        <p:txBody>
          <a:bodyPr wrap="square" lIns="0" tIns="0" rIns="0" bIns="0" rtlCol="0" anchor="t"/>
          <a:lstStyle/>
          <a:p>
            <a:pPr marL="0" indent="0">
              <a:buNone/>
            </a:pPr>
            <a:r>
              <a:rPr lang="en-US" sz="1400" dirty="0">
                <a:solidFill>
                  <a:schemeClr val="tx2"/>
                </a:solidFill>
              </a:rPr>
              <a:t>Removed the 2 unnamed index columns.</a:t>
            </a:r>
            <a:endParaRPr lang="en-US" sz="1400" dirty="0"/>
          </a:p>
        </p:txBody>
      </p:sp>
      <p:sp>
        <p:nvSpPr>
          <p:cNvPr id="13" name="Step card 3"/>
          <p:cNvSpPr/>
          <p:nvPr/>
        </p:nvSpPr>
        <p:spPr>
          <a:xfrm>
            <a:off x="5076749" y="1463040"/>
            <a:ext cx="2035454" cy="2743200"/>
          </a:xfrm>
          <a:prstGeom prst="roundRect">
            <a:avLst>
              <a:gd name="adj" fmla="val 4492"/>
            </a:avLst>
          </a:prstGeom>
          <a:solidFill>
            <a:schemeClr val="bg2"/>
          </a:solidFill>
          <a:ln/>
        </p:spPr>
      </p:sp>
      <p:sp>
        <p:nvSpPr>
          <p:cNvPr id="14" name="Step number"/>
          <p:cNvSpPr/>
          <p:nvPr/>
        </p:nvSpPr>
        <p:spPr>
          <a:xfrm>
            <a:off x="5305349" y="1691640"/>
            <a:ext cx="502920" cy="502920"/>
          </a:xfrm>
          <a:prstGeom prst="ellipse">
            <a:avLst/>
          </a:prstGeom>
          <a:solidFill>
            <a:schemeClr val="accent1"/>
          </a:solidFill>
          <a:ln/>
        </p:spPr>
      </p:sp>
      <p:sp>
        <p:nvSpPr>
          <p:cNvPr id="15" name="Text 13"/>
          <p:cNvSpPr txBox="1"/>
          <p:nvPr/>
        </p:nvSpPr>
        <p:spPr>
          <a:xfrm>
            <a:off x="5305349" y="16916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Text 14"/>
          <p:cNvSpPr txBox="1"/>
          <p:nvPr/>
        </p:nvSpPr>
        <p:spPr>
          <a:xfrm>
            <a:off x="5305349" y="2377440"/>
            <a:ext cx="1669694" cy="365760"/>
          </a:xfrm>
          <a:prstGeom prst="rect">
            <a:avLst/>
          </a:prstGeom>
          <a:noFill/>
          <a:ln/>
        </p:spPr>
        <p:txBody>
          <a:bodyPr wrap="square" lIns="0" tIns="0" rIns="0" bIns="0" rtlCol="0" anchor="t"/>
          <a:lstStyle/>
          <a:p>
            <a:pPr marL="0" indent="0">
              <a:buNone/>
            </a:pPr>
            <a:r>
              <a:rPr lang="en-US" sz="1800" b="1" dirty="0">
                <a:solidFill>
                  <a:schemeClr val="tx1"/>
                </a:solidFill>
              </a:rPr>
              <a:t>Check</a:t>
            </a:r>
            <a:endParaRPr lang="en-US" sz="1800" dirty="0"/>
          </a:p>
        </p:txBody>
      </p:sp>
      <p:sp>
        <p:nvSpPr>
          <p:cNvPr id="17" name="Text 15"/>
          <p:cNvSpPr txBox="1"/>
          <p:nvPr/>
        </p:nvSpPr>
        <p:spPr>
          <a:xfrm>
            <a:off x="5305349" y="2834640"/>
            <a:ext cx="1669694" cy="1280160"/>
          </a:xfrm>
          <a:prstGeom prst="rect">
            <a:avLst/>
          </a:prstGeom>
          <a:noFill/>
          <a:ln/>
        </p:spPr>
        <p:txBody>
          <a:bodyPr wrap="square" lIns="0" tIns="0" rIns="0" bIns="0" rtlCol="0" anchor="t"/>
          <a:lstStyle/>
          <a:p>
            <a:pPr marL="0" indent="0">
              <a:buNone/>
            </a:pPr>
            <a:r>
              <a:rPr lang="en-US" sz="1400" dirty="0">
                <a:solidFill>
                  <a:schemeClr val="tx2"/>
                </a:solidFill>
              </a:rPr>
              <a:t>Found 68 missing ratings and 57 missing costs, with no duplicate rows.</a:t>
            </a:r>
            <a:endParaRPr lang="en-US" sz="1400" dirty="0"/>
          </a:p>
        </p:txBody>
      </p:sp>
      <p:sp>
        <p:nvSpPr>
          <p:cNvPr id="18" name="Step card 4"/>
          <p:cNvSpPr/>
          <p:nvPr/>
        </p:nvSpPr>
        <p:spPr>
          <a:xfrm>
            <a:off x="7386523" y="1463040"/>
            <a:ext cx="2035454" cy="2743200"/>
          </a:xfrm>
          <a:prstGeom prst="roundRect">
            <a:avLst>
              <a:gd name="adj" fmla="val 4492"/>
            </a:avLst>
          </a:prstGeom>
          <a:solidFill>
            <a:schemeClr val="bg2"/>
          </a:solidFill>
          <a:ln/>
        </p:spPr>
      </p:sp>
      <p:sp>
        <p:nvSpPr>
          <p:cNvPr id="19" name="Step number"/>
          <p:cNvSpPr/>
          <p:nvPr/>
        </p:nvSpPr>
        <p:spPr>
          <a:xfrm>
            <a:off x="7615123" y="1691640"/>
            <a:ext cx="502920" cy="502920"/>
          </a:xfrm>
          <a:prstGeom prst="ellipse">
            <a:avLst/>
          </a:prstGeom>
          <a:solidFill>
            <a:schemeClr val="accent1"/>
          </a:solidFill>
          <a:ln/>
        </p:spPr>
      </p:sp>
      <p:sp>
        <p:nvSpPr>
          <p:cNvPr id="20" name="Text 18"/>
          <p:cNvSpPr txBox="1"/>
          <p:nvPr/>
        </p:nvSpPr>
        <p:spPr>
          <a:xfrm>
            <a:off x="7615123" y="16916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1" name="Text 19"/>
          <p:cNvSpPr txBox="1"/>
          <p:nvPr/>
        </p:nvSpPr>
        <p:spPr>
          <a:xfrm>
            <a:off x="7615123" y="2377440"/>
            <a:ext cx="1669694" cy="365760"/>
          </a:xfrm>
          <a:prstGeom prst="rect">
            <a:avLst/>
          </a:prstGeom>
          <a:noFill/>
          <a:ln/>
        </p:spPr>
        <p:txBody>
          <a:bodyPr wrap="square" lIns="0" tIns="0" rIns="0" bIns="0" rtlCol="0" anchor="t"/>
          <a:lstStyle/>
          <a:p>
            <a:pPr marL="0" indent="0">
              <a:buNone/>
            </a:pPr>
            <a:r>
              <a:rPr lang="en-US" sz="1800" b="1" dirty="0">
                <a:solidFill>
                  <a:schemeClr val="tx1"/>
                </a:solidFill>
              </a:rPr>
              <a:t>Remove</a:t>
            </a:r>
            <a:endParaRPr lang="en-US" sz="1800" dirty="0"/>
          </a:p>
        </p:txBody>
      </p:sp>
      <p:sp>
        <p:nvSpPr>
          <p:cNvPr id="22" name="Text 20"/>
          <p:cNvSpPr txBox="1"/>
          <p:nvPr/>
        </p:nvSpPr>
        <p:spPr>
          <a:xfrm>
            <a:off x="7615123" y="2834640"/>
            <a:ext cx="1669694" cy="1280160"/>
          </a:xfrm>
          <a:prstGeom prst="rect">
            <a:avLst/>
          </a:prstGeom>
          <a:noFill/>
          <a:ln/>
        </p:spPr>
        <p:txBody>
          <a:bodyPr wrap="square" lIns="0" tIns="0" rIns="0" bIns="0" rtlCol="0" anchor="t"/>
          <a:lstStyle/>
          <a:p>
            <a:pPr marL="0" indent="0">
              <a:buNone/>
            </a:pPr>
            <a:r>
              <a:rPr lang="en-US" sz="1400" dirty="0">
                <a:solidFill>
                  <a:schemeClr val="tx2"/>
                </a:solidFill>
              </a:rPr>
              <a:t>Dropped 121 rows (1.7%) so no rating is invented.</a:t>
            </a:r>
            <a:endParaRPr lang="en-US" sz="1400" dirty="0"/>
          </a:p>
        </p:txBody>
      </p:sp>
      <p:sp>
        <p:nvSpPr>
          <p:cNvPr id="23" name="Step card 5"/>
          <p:cNvSpPr/>
          <p:nvPr/>
        </p:nvSpPr>
        <p:spPr>
          <a:xfrm>
            <a:off x="9696298" y="1463040"/>
            <a:ext cx="2035454" cy="2743200"/>
          </a:xfrm>
          <a:prstGeom prst="roundRect">
            <a:avLst>
              <a:gd name="adj" fmla="val 4492"/>
            </a:avLst>
          </a:prstGeom>
          <a:solidFill>
            <a:schemeClr val="bg2"/>
          </a:solidFill>
          <a:ln/>
        </p:spPr>
      </p:sp>
      <p:sp>
        <p:nvSpPr>
          <p:cNvPr id="24" name="Step number"/>
          <p:cNvSpPr/>
          <p:nvPr/>
        </p:nvSpPr>
        <p:spPr>
          <a:xfrm>
            <a:off x="9924898" y="1691640"/>
            <a:ext cx="502920" cy="502920"/>
          </a:xfrm>
          <a:prstGeom prst="ellipse">
            <a:avLst/>
          </a:prstGeom>
          <a:solidFill>
            <a:schemeClr val="accent1"/>
          </a:solidFill>
          <a:ln/>
        </p:spPr>
      </p:sp>
      <p:sp>
        <p:nvSpPr>
          <p:cNvPr id="25" name="Text 23"/>
          <p:cNvSpPr txBox="1"/>
          <p:nvPr/>
        </p:nvSpPr>
        <p:spPr>
          <a:xfrm>
            <a:off x="9924898" y="169164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6" name="Text 24"/>
          <p:cNvSpPr txBox="1"/>
          <p:nvPr/>
        </p:nvSpPr>
        <p:spPr>
          <a:xfrm>
            <a:off x="9924898" y="2377440"/>
            <a:ext cx="1669694" cy="365760"/>
          </a:xfrm>
          <a:prstGeom prst="rect">
            <a:avLst/>
          </a:prstGeom>
          <a:noFill/>
          <a:ln/>
        </p:spPr>
        <p:txBody>
          <a:bodyPr wrap="square" lIns="0" tIns="0" rIns="0" bIns="0" rtlCol="0" anchor="t"/>
          <a:lstStyle/>
          <a:p>
            <a:pPr marL="0" indent="0">
              <a:buNone/>
            </a:pPr>
            <a:r>
              <a:rPr lang="en-US" sz="1800" b="1" dirty="0">
                <a:solidFill>
                  <a:schemeClr val="tx1"/>
                </a:solidFill>
              </a:rPr>
              <a:t>Create</a:t>
            </a:r>
            <a:endParaRPr lang="en-US" sz="1800" dirty="0"/>
          </a:p>
        </p:txBody>
      </p:sp>
      <p:sp>
        <p:nvSpPr>
          <p:cNvPr id="27" name="Text 25"/>
          <p:cNvSpPr txBox="1"/>
          <p:nvPr/>
        </p:nvSpPr>
        <p:spPr>
          <a:xfrm>
            <a:off x="9924898" y="2834640"/>
            <a:ext cx="1669694" cy="1280160"/>
          </a:xfrm>
          <a:prstGeom prst="rect">
            <a:avLst/>
          </a:prstGeom>
          <a:noFill/>
          <a:ln/>
        </p:spPr>
        <p:txBody>
          <a:bodyPr wrap="square" lIns="0" tIns="0" rIns="0" bIns="0" rtlCol="0" anchor="t"/>
          <a:lstStyle/>
          <a:p>
            <a:pPr marL="0" indent="0">
              <a:buNone/>
            </a:pPr>
            <a:r>
              <a:rPr lang="en-US" sz="1400" dirty="0">
                <a:solidFill>
                  <a:schemeClr val="tx2"/>
                </a:solidFill>
              </a:rPr>
              <a:t>Added primary cuisine, type group and cost range columns.</a:t>
            </a:r>
            <a:endParaRPr lang="en-US" sz="1400" dirty="0"/>
          </a:p>
        </p:txBody>
      </p:sp>
      <p:sp>
        <p:nvSpPr>
          <p:cNvPr id="28" name="Result panel"/>
          <p:cNvSpPr/>
          <p:nvPr/>
        </p:nvSpPr>
        <p:spPr>
          <a:xfrm>
            <a:off x="457200" y="4526280"/>
            <a:ext cx="11274552" cy="1691640"/>
          </a:xfrm>
          <a:prstGeom prst="roundRect">
            <a:avLst>
              <a:gd name="adj" fmla="val 5405"/>
            </a:avLst>
          </a:prstGeom>
          <a:solidFill>
            <a:schemeClr val="accent2"/>
          </a:solidFill>
          <a:ln/>
        </p:spPr>
      </p:sp>
      <p:sp>
        <p:nvSpPr>
          <p:cNvPr id="29" name="Text 27"/>
          <p:cNvSpPr txBox="1"/>
          <p:nvPr/>
        </p:nvSpPr>
        <p:spPr>
          <a:xfrm>
            <a:off x="822960" y="4754880"/>
            <a:ext cx="3291840" cy="320040"/>
          </a:xfrm>
          <a:prstGeom prst="rect">
            <a:avLst/>
          </a:prstGeom>
          <a:noFill/>
          <a:ln/>
        </p:spPr>
        <p:txBody>
          <a:bodyPr wrap="square" lIns="0" tIns="0" rIns="0" bIns="0" rtlCol="0" anchor="t"/>
          <a:lstStyle/>
          <a:p>
            <a:pPr marL="0" indent="0">
              <a:buNone/>
            </a:pPr>
            <a:r>
              <a:rPr lang="en-US" sz="1600" b="1" dirty="0">
                <a:solidFill>
                  <a:schemeClr val="accent3"/>
                </a:solidFill>
              </a:rPr>
              <a:t>Raw data</a:t>
            </a:r>
            <a:endParaRPr lang="en-US" sz="1600" dirty="0"/>
          </a:p>
        </p:txBody>
      </p:sp>
      <p:sp>
        <p:nvSpPr>
          <p:cNvPr id="30" name="Text 28"/>
          <p:cNvSpPr txBox="1"/>
          <p:nvPr/>
        </p:nvSpPr>
        <p:spPr>
          <a:xfrm>
            <a:off x="822960" y="5120640"/>
            <a:ext cx="347472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7,105 rows × 12 columns</a:t>
            </a:r>
            <a:endParaRPr lang="en-US" sz="2400" dirty="0"/>
          </a:p>
        </p:txBody>
      </p:sp>
      <p:pic>
        <p:nvPicPr>
          <p:cNvPr id="31" name="Arrow" descr="preencoded.png"/>
          <p:cNvPicPr>
            <a:picLocks noChangeAspect="1"/>
          </p:cNvPicPr>
          <p:nvPr/>
        </p:nvPicPr>
        <p:blipFill>
          <a:blip r:embed="rId3"/>
          <a:stretch>
            <a:fillRect/>
          </a:stretch>
        </p:blipFill>
        <p:spPr>
          <a:xfrm>
            <a:off x="4526280" y="5166360"/>
            <a:ext cx="457200" cy="457200"/>
          </a:xfrm>
          <a:prstGeom prst="rect">
            <a:avLst/>
          </a:prstGeom>
        </p:spPr>
      </p:pic>
      <p:sp>
        <p:nvSpPr>
          <p:cNvPr id="32" name="Text 29"/>
          <p:cNvSpPr txBox="1"/>
          <p:nvPr/>
        </p:nvSpPr>
        <p:spPr>
          <a:xfrm>
            <a:off x="5394960" y="4754880"/>
            <a:ext cx="3291840" cy="320040"/>
          </a:xfrm>
          <a:prstGeom prst="rect">
            <a:avLst/>
          </a:prstGeom>
          <a:noFill/>
          <a:ln/>
        </p:spPr>
        <p:txBody>
          <a:bodyPr wrap="square" lIns="0" tIns="0" rIns="0" bIns="0" rtlCol="0" anchor="t"/>
          <a:lstStyle/>
          <a:p>
            <a:pPr marL="0" indent="0">
              <a:buNone/>
            </a:pPr>
            <a:r>
              <a:rPr lang="en-US" sz="1600" b="1" dirty="0">
                <a:solidFill>
                  <a:schemeClr val="accent3"/>
                </a:solidFill>
              </a:rPr>
              <a:t>Final data</a:t>
            </a:r>
            <a:endParaRPr lang="en-US" sz="1600" dirty="0"/>
          </a:p>
        </p:txBody>
      </p:sp>
      <p:sp>
        <p:nvSpPr>
          <p:cNvPr id="33" name="Text 30"/>
          <p:cNvSpPr txBox="1"/>
          <p:nvPr/>
        </p:nvSpPr>
        <p:spPr>
          <a:xfrm>
            <a:off x="5394960" y="5120640"/>
            <a:ext cx="347472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6,984 rows × 14 columns</a:t>
            </a:r>
            <a:endParaRPr lang="en-US" sz="2400" dirty="0"/>
          </a:p>
        </p:txBody>
      </p:sp>
      <p:sp>
        <p:nvSpPr>
          <p:cNvPr id="34" name="Text 31"/>
          <p:cNvSpPr txBox="1"/>
          <p:nvPr/>
        </p:nvSpPr>
        <p:spPr>
          <a:xfrm>
            <a:off x="9144000" y="4754880"/>
            <a:ext cx="2377440" cy="1097280"/>
          </a:xfrm>
          <a:prstGeom prst="rect">
            <a:avLst/>
          </a:prstGeom>
          <a:noFill/>
          <a:ln/>
        </p:spPr>
        <p:txBody>
          <a:bodyPr wrap="square" lIns="0" tIns="0" rIns="0" bIns="0" rtlCol="0" anchor="t"/>
          <a:lstStyle/>
          <a:p>
            <a:pPr marL="0" indent="0">
              <a:spcAft>
                <a:spcPts val="400"/>
              </a:spcAft>
              <a:buNone/>
            </a:pPr>
            <a:r>
              <a:rPr lang="en-US" sz="1600" dirty="0">
                <a:solidFill>
                  <a:schemeClr val="bg1"/>
                </a:solidFill>
              </a:rPr>
              <a:t>0 missing values</a:t>
            </a:r>
            <a:endParaRPr lang="en-US" sz="1600" dirty="0"/>
          </a:p>
          <a:p>
            <a:pPr marL="0" indent="0">
              <a:spcAft>
                <a:spcPts val="400"/>
              </a:spcAft>
              <a:buNone/>
            </a:pPr>
            <a:r>
              <a:rPr lang="en-US" sz="1600" dirty="0">
                <a:solidFill>
                  <a:schemeClr val="bg1"/>
                </a:solidFill>
              </a:rPr>
              <a:t>0 duplicate rows</a:t>
            </a:r>
            <a:endParaRPr lang="en-US" sz="1600" dirty="0"/>
          </a:p>
          <a:p>
            <a:pPr marL="0" indent="0">
              <a:spcAft>
                <a:spcPts val="400"/>
              </a:spcAft>
              <a:buNone/>
            </a:pPr>
            <a:r>
              <a:rPr lang="en-US" sz="1600" dirty="0">
                <a:solidFill>
                  <a:schemeClr val="bg1"/>
                </a:solidFill>
              </a:rPr>
              <a:t>4 new columns</a:t>
            </a:r>
            <a:endParaRPr lang="en-US" sz="1600" dirty="0"/>
          </a:p>
        </p:txBody>
      </p:sp>
      <p:sp>
        <p:nvSpPr>
          <p:cNvPr id="3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lIns="0" tIns="0" rIns="0" bIns="0" rtlCol="0" anchor="ctr"/>
          <a:lstStyle/>
          <a:p>
            <a:pPr marL="0" indent="0" algn="l">
              <a:buNone/>
            </a:pPr>
            <a:r>
              <a:rPr lang="en-US" sz="3600" b="1" dirty="0">
                <a:solidFill>
                  <a:schemeClr val="tx1"/>
                </a:solidFill>
              </a:rPr>
              <a:t>Solution: the final clean dataset</a:t>
            </a:r>
            <a:endParaRPr lang="en-US" sz="3600" dirty="0"/>
          </a:p>
        </p:txBody>
      </p:sp>
      <p:graphicFrame>
        <p:nvGraphicFramePr>
          <p:cNvPr id="5" name="Final data sample"/>
          <p:cNvGraphicFramePr>
            <a:graphicFrameLocks noGrp="1"/>
          </p:cNvGraphicFramePr>
          <p:nvPr>
            <p:extLst>
              <p:ext uri="{D42A27DB-BD31-4B8C-83A1-F6EECF244321}">
                <p14:modId xmlns:p14="http://schemas.microsoft.com/office/powerpoint/2010/main" val="4082495260"/>
              </p:ext>
            </p:extLst>
          </p:nvPr>
        </p:nvGraphicFramePr>
        <p:xfrm>
          <a:off x="457200" y="1463040"/>
          <a:ext cx="6949440" cy="329184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548640">
                <a:tc>
                  <a:txBody>
                    <a:bodyPr/>
                    <a:lstStyle/>
                    <a:p>
                      <a:pPr marL="0" indent="0">
                        <a:buNone/>
                      </a:pPr>
                      <a:r>
                        <a:rPr lang="en-US" sz="1200" b="1" dirty="0">
                          <a:solidFill>
                            <a:schemeClr val="bg1"/>
                          </a:solidFill>
                        </a:rPr>
                        <a:t>Restaurant</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Area</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Primary cuisine</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Rating</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Cost (₹)</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1"/>
                    </a:solidFill>
                  </a:tcPr>
                </a:tc>
                <a:tc>
                  <a:txBody>
                    <a:bodyPr/>
                    <a:lstStyle/>
                    <a:p>
                      <a:pPr marL="0" indent="0">
                        <a:buNone/>
                      </a:pPr>
                      <a:r>
                        <a:rPr lang="en-US" sz="1200" b="1" dirty="0">
                          <a:solidFill>
                            <a:schemeClr val="bg1"/>
                          </a:solidFill>
                        </a:rPr>
                        <a:t>Cost range</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chemeClr val="tx1"/>
                          </a:solidFill>
                        </a:rPr>
                        <a:t>#FeelTheROLL</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Bellandur</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Fast Food</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3.4</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200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≤200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chemeClr val="tx1"/>
                          </a:solidFill>
                        </a:rPr>
                        <a:t>#refuel</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Bannerghatta Road</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Cafe</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3.7</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400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201-400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chemeClr val="tx1"/>
                          </a:solidFill>
                        </a:rPr>
                        <a:t>'@ Biryani Central</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Marathahalli</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Biryani</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2.7</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550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401-600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chemeClr val="tx1"/>
                          </a:solidFill>
                        </a:rPr>
                        <a:t>'@ The Bbq</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Bellandur</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BBQ</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2.8</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700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600-800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chemeClr val="tx1"/>
                          </a:solidFill>
                        </a:rPr>
                        <a:t>'@Italy</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Banashankari</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Italian</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4.1</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700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601-800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chemeClr val="tx1"/>
                          </a:solidFill>
                        </a:rPr>
                        <a:t>'@North Parontha Hut</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Indiranagar</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North Indian</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2.8</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300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200" dirty="0">
                          <a:solidFill>
                            <a:schemeClr val="tx1"/>
                          </a:solidFill>
                        </a:rPr>
                        <a:t>201-400</a:t>
                      </a:r>
                      <a:endParaRPr lang="en-US" sz="1200" dirty="0"/>
                    </a:p>
                  </a:txBody>
                  <a:tcPr marL="73152" marR="73152"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457200" y="4892040"/>
            <a:ext cx="6949440" cy="822960"/>
          </a:xfrm>
          <a:prstGeom prst="rect">
            <a:avLst/>
          </a:prstGeom>
          <a:noFill/>
          <a:ln/>
        </p:spPr>
        <p:txBody>
          <a:bodyPr wrap="square" lIns="0" tIns="0" rIns="0" bIns="0" rtlCol="0" anchor="t"/>
          <a:lstStyle/>
          <a:p>
            <a:pPr marL="0" indent="0">
              <a:buNone/>
            </a:pPr>
            <a:r>
              <a:rPr lang="en-US" sz="1400" dirty="0">
                <a:solidFill>
                  <a:schemeClr val="tx2"/>
                </a:solidFill>
              </a:rPr>
              <a:t>14 columns in total: the 10 original columns plus 4 we created (primary cuisine, type group, cost range and cost range order). Sample of 6 of the 6,984 rows.</a:t>
            </a:r>
            <a:endParaRPr lang="en-US" sz="1400" dirty="0"/>
          </a:p>
        </p:txBody>
      </p:sp>
      <p:sp>
        <p:nvSpPr>
          <p:cNvPr id="3" name="Text 2"/>
          <p:cNvSpPr txBox="1"/>
          <p:nvPr/>
        </p:nvSpPr>
        <p:spPr>
          <a:xfrm>
            <a:off x="7772400" y="1463040"/>
            <a:ext cx="3959352" cy="365760"/>
          </a:xfrm>
          <a:prstGeom prst="rect">
            <a:avLst/>
          </a:prstGeom>
          <a:noFill/>
          <a:ln/>
        </p:spPr>
        <p:txBody>
          <a:bodyPr wrap="square" lIns="0" tIns="0" rIns="0" bIns="0" rtlCol="0" anchor="t"/>
          <a:lstStyle/>
          <a:p>
            <a:pPr marL="0" indent="0">
              <a:buNone/>
            </a:pPr>
            <a:r>
              <a:rPr lang="en-US" sz="2000" b="1" dirty="0">
                <a:solidFill>
                  <a:schemeClr val="tx1"/>
                </a:solidFill>
              </a:rPr>
              <a:t>What we did with it</a:t>
            </a:r>
            <a:endParaRPr lang="en-US" sz="2000" dirty="0"/>
          </a:p>
        </p:txBody>
      </p:sp>
      <p:sp>
        <p:nvSpPr>
          <p:cNvPr id="6" name="Icon circle"/>
          <p:cNvSpPr/>
          <p:nvPr/>
        </p:nvSpPr>
        <p:spPr>
          <a:xfrm>
            <a:off x="7772400" y="2057400"/>
            <a:ext cx="548640" cy="548640"/>
          </a:xfrm>
          <a:prstGeom prst="ellipse">
            <a:avLst/>
          </a:prstGeom>
          <a:solidFill>
            <a:schemeClr val="accent1"/>
          </a:solidFill>
          <a:ln/>
        </p:spPr>
      </p:sp>
      <p:pic>
        <p:nvPicPr>
          <p:cNvPr id="7" name="Icon" descr="preencoded.png"/>
          <p:cNvPicPr>
            <a:picLocks noChangeAspect="1"/>
          </p:cNvPicPr>
          <p:nvPr/>
        </p:nvPicPr>
        <p:blipFill>
          <a:blip r:embed="rId3"/>
          <a:stretch>
            <a:fillRect/>
          </a:stretch>
        </p:blipFill>
        <p:spPr>
          <a:xfrm>
            <a:off x="7915046" y="2200046"/>
            <a:ext cx="263347" cy="263347"/>
          </a:xfrm>
          <a:prstGeom prst="rect">
            <a:avLst/>
          </a:prstGeom>
        </p:spPr>
      </p:pic>
      <p:sp>
        <p:nvSpPr>
          <p:cNvPr id="8" name="Text 4"/>
          <p:cNvSpPr txBox="1"/>
          <p:nvPr/>
        </p:nvSpPr>
        <p:spPr>
          <a:xfrm>
            <a:off x="8503920" y="2039112"/>
            <a:ext cx="3200400" cy="292608"/>
          </a:xfrm>
          <a:prstGeom prst="rect">
            <a:avLst/>
          </a:prstGeom>
          <a:noFill/>
          <a:ln/>
        </p:spPr>
        <p:txBody>
          <a:bodyPr wrap="square" lIns="0" tIns="0" rIns="0" bIns="0" rtlCol="0" anchor="t"/>
          <a:lstStyle/>
          <a:p>
            <a:pPr marL="0" indent="0">
              <a:buNone/>
            </a:pPr>
            <a:r>
              <a:rPr lang="en-US" sz="1600" b="1" dirty="0">
                <a:solidFill>
                  <a:schemeClr val="tx1"/>
                </a:solidFill>
              </a:rPr>
              <a:t>Cleaned</a:t>
            </a:r>
            <a:endParaRPr lang="en-US" sz="1600" dirty="0"/>
          </a:p>
        </p:txBody>
      </p:sp>
      <p:sp>
        <p:nvSpPr>
          <p:cNvPr id="9" name="Text 5"/>
          <p:cNvSpPr txBox="1"/>
          <p:nvPr/>
        </p:nvSpPr>
        <p:spPr>
          <a:xfrm>
            <a:off x="8503920" y="2350008"/>
            <a:ext cx="3200400" cy="594360"/>
          </a:xfrm>
          <a:prstGeom prst="rect">
            <a:avLst/>
          </a:prstGeom>
          <a:noFill/>
          <a:ln/>
        </p:spPr>
        <p:txBody>
          <a:bodyPr wrap="square" lIns="0" tIns="0" rIns="0" bIns="0" rtlCol="0" anchor="t"/>
          <a:lstStyle/>
          <a:p>
            <a:pPr marL="0" indent="0">
              <a:buNone/>
            </a:pPr>
            <a:r>
              <a:rPr lang="en-US" sz="1400" dirty="0">
                <a:solidFill>
                  <a:schemeClr val="tx2"/>
                </a:solidFill>
              </a:rPr>
              <a:t>Removed 121 incomplete rows and 2 index columns.</a:t>
            </a:r>
            <a:endParaRPr lang="en-US" sz="1400" dirty="0"/>
          </a:p>
        </p:txBody>
      </p:sp>
      <p:sp>
        <p:nvSpPr>
          <p:cNvPr id="10" name="Icon circle"/>
          <p:cNvSpPr/>
          <p:nvPr/>
        </p:nvSpPr>
        <p:spPr>
          <a:xfrm>
            <a:off x="7772400" y="3108960"/>
            <a:ext cx="548640" cy="548640"/>
          </a:xfrm>
          <a:prstGeom prst="ellipse">
            <a:avLst/>
          </a:prstGeom>
          <a:solidFill>
            <a:schemeClr val="accent1"/>
          </a:solidFill>
          <a:ln/>
        </p:spPr>
      </p:sp>
      <p:pic>
        <p:nvPicPr>
          <p:cNvPr id="11" name="Icon" descr="preencoded.png"/>
          <p:cNvPicPr>
            <a:picLocks noChangeAspect="1"/>
          </p:cNvPicPr>
          <p:nvPr/>
        </p:nvPicPr>
        <p:blipFill>
          <a:blip r:embed="rId4"/>
          <a:stretch>
            <a:fillRect/>
          </a:stretch>
        </p:blipFill>
        <p:spPr>
          <a:xfrm>
            <a:off x="7915046" y="3251606"/>
            <a:ext cx="263347" cy="263347"/>
          </a:xfrm>
          <a:prstGeom prst="rect">
            <a:avLst/>
          </a:prstGeom>
        </p:spPr>
      </p:pic>
      <p:sp>
        <p:nvSpPr>
          <p:cNvPr id="12" name="Text 7"/>
          <p:cNvSpPr txBox="1"/>
          <p:nvPr/>
        </p:nvSpPr>
        <p:spPr>
          <a:xfrm>
            <a:off x="8503920" y="3090672"/>
            <a:ext cx="3200400" cy="292608"/>
          </a:xfrm>
          <a:prstGeom prst="rect">
            <a:avLst/>
          </a:prstGeom>
          <a:noFill/>
          <a:ln/>
        </p:spPr>
        <p:txBody>
          <a:bodyPr wrap="square" lIns="0" tIns="0" rIns="0" bIns="0" rtlCol="0" anchor="t"/>
          <a:lstStyle/>
          <a:p>
            <a:pPr marL="0" indent="0">
              <a:buNone/>
            </a:pPr>
            <a:r>
              <a:rPr lang="en-US" sz="1600" b="1" dirty="0">
                <a:solidFill>
                  <a:schemeClr val="tx1"/>
                </a:solidFill>
              </a:rPr>
              <a:t>Enriched</a:t>
            </a:r>
            <a:endParaRPr lang="en-US" sz="1600" dirty="0"/>
          </a:p>
        </p:txBody>
      </p:sp>
      <p:sp>
        <p:nvSpPr>
          <p:cNvPr id="13" name="Text 8"/>
          <p:cNvSpPr txBox="1"/>
          <p:nvPr/>
        </p:nvSpPr>
        <p:spPr>
          <a:xfrm>
            <a:off x="8503920" y="3401568"/>
            <a:ext cx="3200400" cy="594360"/>
          </a:xfrm>
          <a:prstGeom prst="rect">
            <a:avLst/>
          </a:prstGeom>
          <a:noFill/>
          <a:ln/>
        </p:spPr>
        <p:txBody>
          <a:bodyPr wrap="square" lIns="0" tIns="0" rIns="0" bIns="0" rtlCol="0" anchor="t"/>
          <a:lstStyle/>
          <a:p>
            <a:pPr marL="0" indent="0">
              <a:buNone/>
            </a:pPr>
            <a:r>
              <a:rPr lang="en-US" sz="1400" dirty="0">
                <a:solidFill>
                  <a:schemeClr val="tx2"/>
                </a:solidFill>
              </a:rPr>
              <a:t>Added primary cuisine, type group and cost ranges.</a:t>
            </a:r>
            <a:endParaRPr lang="en-US" sz="1400" dirty="0"/>
          </a:p>
        </p:txBody>
      </p:sp>
      <p:sp>
        <p:nvSpPr>
          <p:cNvPr id="14" name="Icon circle"/>
          <p:cNvSpPr/>
          <p:nvPr/>
        </p:nvSpPr>
        <p:spPr>
          <a:xfrm>
            <a:off x="7772400" y="4160520"/>
            <a:ext cx="548640" cy="548640"/>
          </a:xfrm>
          <a:prstGeom prst="ellipse">
            <a:avLst/>
          </a:prstGeom>
          <a:solidFill>
            <a:schemeClr val="accent1"/>
          </a:solidFill>
          <a:ln/>
        </p:spPr>
      </p:sp>
      <p:pic>
        <p:nvPicPr>
          <p:cNvPr id="15" name="Icon" descr="preencoded.png"/>
          <p:cNvPicPr>
            <a:picLocks noChangeAspect="1"/>
          </p:cNvPicPr>
          <p:nvPr/>
        </p:nvPicPr>
        <p:blipFill>
          <a:blip r:embed="rId5"/>
          <a:stretch>
            <a:fillRect/>
          </a:stretch>
        </p:blipFill>
        <p:spPr>
          <a:xfrm>
            <a:off x="7915046" y="4303166"/>
            <a:ext cx="263347" cy="263347"/>
          </a:xfrm>
          <a:prstGeom prst="rect">
            <a:avLst/>
          </a:prstGeom>
        </p:spPr>
      </p:pic>
      <p:sp>
        <p:nvSpPr>
          <p:cNvPr id="16" name="Text 10"/>
          <p:cNvSpPr txBox="1"/>
          <p:nvPr/>
        </p:nvSpPr>
        <p:spPr>
          <a:xfrm>
            <a:off x="8503920" y="4142232"/>
            <a:ext cx="3200400" cy="292608"/>
          </a:xfrm>
          <a:prstGeom prst="rect">
            <a:avLst/>
          </a:prstGeom>
          <a:noFill/>
          <a:ln/>
        </p:spPr>
        <p:txBody>
          <a:bodyPr wrap="square" lIns="0" tIns="0" rIns="0" bIns="0" rtlCol="0" anchor="t"/>
          <a:lstStyle/>
          <a:p>
            <a:pPr marL="0" indent="0">
              <a:buNone/>
            </a:pPr>
            <a:r>
              <a:rPr lang="en-US" sz="1600" b="1" dirty="0">
                <a:solidFill>
                  <a:schemeClr val="tx1"/>
                </a:solidFill>
              </a:rPr>
              <a:t>Measured</a:t>
            </a:r>
            <a:endParaRPr lang="en-US" sz="1600" dirty="0"/>
          </a:p>
        </p:txBody>
      </p:sp>
      <p:sp>
        <p:nvSpPr>
          <p:cNvPr id="17" name="Text 11"/>
          <p:cNvSpPr txBox="1"/>
          <p:nvPr/>
        </p:nvSpPr>
        <p:spPr>
          <a:xfrm>
            <a:off x="8503920" y="4453128"/>
            <a:ext cx="3200400" cy="594360"/>
          </a:xfrm>
          <a:prstGeom prst="rect">
            <a:avLst/>
          </a:prstGeom>
          <a:noFill/>
          <a:ln/>
        </p:spPr>
        <p:txBody>
          <a:bodyPr wrap="square" lIns="0" tIns="0" rIns="0" bIns="0" rtlCol="0" anchor="t"/>
          <a:lstStyle/>
          <a:p>
            <a:pPr marL="0" indent="0">
              <a:buNone/>
            </a:pPr>
            <a:r>
              <a:rPr lang="en-US" sz="1400" dirty="0">
                <a:solidFill>
                  <a:schemeClr val="tx2"/>
                </a:solidFill>
              </a:rPr>
              <a:t>Built 6 KPIs plus top 10 area and top 8 cuisine measures.</a:t>
            </a:r>
            <a:endParaRPr lang="en-US" sz="1400" dirty="0"/>
          </a:p>
        </p:txBody>
      </p:sp>
      <p:sp>
        <p:nvSpPr>
          <p:cNvPr id="18" name="Icon circle"/>
          <p:cNvSpPr/>
          <p:nvPr/>
        </p:nvSpPr>
        <p:spPr>
          <a:xfrm>
            <a:off x="7772400" y="5212080"/>
            <a:ext cx="548640" cy="548640"/>
          </a:xfrm>
          <a:prstGeom prst="ellipse">
            <a:avLst/>
          </a:prstGeom>
          <a:solidFill>
            <a:schemeClr val="accent1"/>
          </a:solidFill>
          <a:ln/>
        </p:spPr>
      </p:sp>
      <p:pic>
        <p:nvPicPr>
          <p:cNvPr id="19" name="Icon" descr="preencoded.png"/>
          <p:cNvPicPr>
            <a:picLocks noChangeAspect="1"/>
          </p:cNvPicPr>
          <p:nvPr/>
        </p:nvPicPr>
        <p:blipFill>
          <a:blip r:embed="rId6"/>
          <a:stretch>
            <a:fillRect/>
          </a:stretch>
        </p:blipFill>
        <p:spPr>
          <a:xfrm>
            <a:off x="7915046" y="5354726"/>
            <a:ext cx="263347" cy="263347"/>
          </a:xfrm>
          <a:prstGeom prst="rect">
            <a:avLst/>
          </a:prstGeom>
        </p:spPr>
      </p:pic>
      <p:sp>
        <p:nvSpPr>
          <p:cNvPr id="20" name="Text 13"/>
          <p:cNvSpPr txBox="1"/>
          <p:nvPr/>
        </p:nvSpPr>
        <p:spPr>
          <a:xfrm>
            <a:off x="8503920" y="5193792"/>
            <a:ext cx="3200400" cy="292608"/>
          </a:xfrm>
          <a:prstGeom prst="rect">
            <a:avLst/>
          </a:prstGeom>
          <a:noFill/>
          <a:ln/>
        </p:spPr>
        <p:txBody>
          <a:bodyPr wrap="square" lIns="0" tIns="0" rIns="0" bIns="0" rtlCol="0" anchor="t"/>
          <a:lstStyle/>
          <a:p>
            <a:pPr marL="0" indent="0">
              <a:buNone/>
            </a:pPr>
            <a:r>
              <a:rPr lang="en-US" sz="1600" b="1" dirty="0">
                <a:solidFill>
                  <a:schemeClr val="tx1"/>
                </a:solidFill>
              </a:rPr>
              <a:t>Visualised</a:t>
            </a:r>
            <a:endParaRPr lang="en-US" sz="1600" dirty="0"/>
          </a:p>
        </p:txBody>
      </p:sp>
      <p:sp>
        <p:nvSpPr>
          <p:cNvPr id="21" name="Text 14"/>
          <p:cNvSpPr txBox="1"/>
          <p:nvPr/>
        </p:nvSpPr>
        <p:spPr>
          <a:xfrm>
            <a:off x="8503920" y="5504688"/>
            <a:ext cx="3200400" cy="594360"/>
          </a:xfrm>
          <a:prstGeom prst="rect">
            <a:avLst/>
          </a:prstGeom>
          <a:noFill/>
          <a:ln/>
        </p:spPr>
        <p:txBody>
          <a:bodyPr wrap="square" lIns="0" tIns="0" rIns="0" bIns="0" rtlCol="0" anchor="t"/>
          <a:lstStyle/>
          <a:p>
            <a:pPr marL="0" indent="0">
              <a:buNone/>
            </a:pPr>
            <a:r>
              <a:rPr lang="en-US" sz="1400" dirty="0">
                <a:solidFill>
                  <a:schemeClr val="tx2"/>
                </a:solidFill>
              </a:rPr>
              <a:t>Made 6 charts and 3 slicers in a Power BI dashboard.</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lIns="0" tIns="0" rIns="0" bIns="0" rtlCol="0" anchor="ctr"/>
          <a:lstStyle/>
          <a:p>
            <a:pPr marL="0" indent="0" algn="l">
              <a:buNone/>
            </a:pPr>
            <a:r>
              <a:rPr lang="en-US" sz="3600" b="1" dirty="0">
                <a:solidFill>
                  <a:schemeClr val="tx1"/>
                </a:solidFill>
              </a:rPr>
              <a:t>Dashboard and key insights</a:t>
            </a:r>
            <a:endParaRPr lang="en-US" sz="3600" dirty="0"/>
          </a:p>
        </p:txBody>
      </p:sp>
      <p:pic>
        <p:nvPicPr>
          <p:cNvPr id="3" name="Dashboard screenshot"/>
          <p:cNvPicPr>
            <a:picLocks noChangeAspect="1"/>
          </p:cNvPicPr>
          <p:nvPr/>
        </p:nvPicPr>
        <p:blipFill>
          <a:blip r:embed="rId3"/>
          <a:srcRect/>
          <a:stretch/>
        </p:blipFill>
        <p:spPr>
          <a:xfrm>
            <a:off x="457200" y="1417434"/>
            <a:ext cx="7223760" cy="4063365"/>
          </a:xfrm>
          <a:prstGeom prst="rect">
            <a:avLst/>
          </a:prstGeom>
          <a:effectLst>
            <a:outerShdw blurRad="101600" dist="38100" dir="5400000" algn="bl" rotWithShape="0">
              <a:srgbClr val="000000">
                <a:alpha val="25000"/>
              </a:srgbClr>
            </a:outerShdw>
          </a:effectLst>
        </p:spPr>
      </p:pic>
      <p:sp>
        <p:nvSpPr>
          <p:cNvPr id="4" name="Text 1"/>
          <p:cNvSpPr txBox="1"/>
          <p:nvPr/>
        </p:nvSpPr>
        <p:spPr>
          <a:xfrm>
            <a:off x="457200" y="5669280"/>
            <a:ext cx="7223760" cy="274320"/>
          </a:xfrm>
          <a:prstGeom prst="rect">
            <a:avLst/>
          </a:prstGeom>
          <a:noFill/>
          <a:ln/>
        </p:spPr>
        <p:txBody>
          <a:bodyPr wrap="square" lIns="0" tIns="0" rIns="0" bIns="0" rtlCol="0" anchor="t"/>
          <a:lstStyle/>
          <a:p>
            <a:pPr marL="0" indent="0">
              <a:buNone/>
            </a:pPr>
            <a:r>
              <a:rPr lang="en-US" sz="1200" dirty="0">
                <a:solidFill>
                  <a:schemeClr val="accent4"/>
                </a:solidFill>
              </a:rPr>
              <a:t>Power BI dashboard: 6,984 restaurants across 30 Bangalore areas</a:t>
            </a:r>
            <a:endParaRPr lang="en-US" sz="1200" dirty="0"/>
          </a:p>
        </p:txBody>
      </p:sp>
      <p:sp>
        <p:nvSpPr>
          <p:cNvPr id="5" name="Text 2"/>
          <p:cNvSpPr txBox="1"/>
          <p:nvPr/>
        </p:nvSpPr>
        <p:spPr>
          <a:xfrm>
            <a:off x="8001000" y="1417320"/>
            <a:ext cx="3730752" cy="365760"/>
          </a:xfrm>
          <a:prstGeom prst="rect">
            <a:avLst/>
          </a:prstGeom>
          <a:noFill/>
          <a:ln/>
        </p:spPr>
        <p:txBody>
          <a:bodyPr wrap="square" lIns="0" tIns="0" rIns="0" bIns="0" rtlCol="0" anchor="t"/>
          <a:lstStyle/>
          <a:p>
            <a:pPr marL="0" indent="0">
              <a:buNone/>
            </a:pPr>
            <a:r>
              <a:rPr lang="en-US" sz="2000" b="1" dirty="0">
                <a:solidFill>
                  <a:schemeClr val="tx1"/>
                </a:solidFill>
              </a:rPr>
              <a:t>Key insights</a:t>
            </a:r>
            <a:endParaRPr lang="en-US" sz="2000" dirty="0"/>
          </a:p>
        </p:txBody>
      </p:sp>
      <p:sp>
        <p:nvSpPr>
          <p:cNvPr id="6" name="Text 3"/>
          <p:cNvSpPr txBox="1"/>
          <p:nvPr/>
        </p:nvSpPr>
        <p:spPr>
          <a:xfrm>
            <a:off x="8001000" y="1965960"/>
            <a:ext cx="3730752" cy="292608"/>
          </a:xfrm>
          <a:prstGeom prst="rect">
            <a:avLst/>
          </a:prstGeom>
          <a:noFill/>
          <a:ln/>
        </p:spPr>
        <p:txBody>
          <a:bodyPr wrap="square" lIns="0" tIns="0" rIns="0" bIns="0" rtlCol="0" anchor="t"/>
          <a:lstStyle/>
          <a:p>
            <a:pPr marL="0" indent="0">
              <a:buNone/>
            </a:pPr>
            <a:r>
              <a:rPr lang="en-US" sz="1600" b="1" dirty="0">
                <a:solidFill>
                  <a:schemeClr val="accent2"/>
                </a:solidFill>
              </a:rPr>
              <a:t>Higher price, higher rating</a:t>
            </a:r>
            <a:endParaRPr lang="en-US" sz="1600" dirty="0"/>
          </a:p>
        </p:txBody>
      </p:sp>
      <p:sp>
        <p:nvSpPr>
          <p:cNvPr id="7" name="Text 4"/>
          <p:cNvSpPr txBox="1"/>
          <p:nvPr/>
        </p:nvSpPr>
        <p:spPr>
          <a:xfrm>
            <a:off x="8001000" y="2276856"/>
            <a:ext cx="3730752" cy="640080"/>
          </a:xfrm>
          <a:prstGeom prst="rect">
            <a:avLst/>
          </a:prstGeom>
          <a:noFill/>
          <a:ln/>
        </p:spPr>
        <p:txBody>
          <a:bodyPr wrap="square" lIns="0" tIns="0" rIns="0" bIns="0" rtlCol="0" anchor="t"/>
          <a:lstStyle/>
          <a:p>
            <a:pPr marL="0" indent="0">
              <a:buNone/>
            </a:pPr>
            <a:r>
              <a:rPr lang="en-US" sz="1400" dirty="0">
                <a:solidFill>
                  <a:schemeClr val="tx1"/>
                </a:solidFill>
              </a:rPr>
              <a:t>Average rating climbs from 3.39 (up to ₹200) to 4.09 (above ₹1,500).</a:t>
            </a:r>
            <a:endParaRPr lang="en-US" sz="1400" dirty="0"/>
          </a:p>
        </p:txBody>
      </p:sp>
      <p:sp>
        <p:nvSpPr>
          <p:cNvPr id="8" name="Text 5"/>
          <p:cNvSpPr txBox="1"/>
          <p:nvPr/>
        </p:nvSpPr>
        <p:spPr>
          <a:xfrm>
            <a:off x="8001000" y="3044952"/>
            <a:ext cx="3730752" cy="292608"/>
          </a:xfrm>
          <a:prstGeom prst="rect">
            <a:avLst/>
          </a:prstGeom>
          <a:noFill/>
          <a:ln/>
        </p:spPr>
        <p:txBody>
          <a:bodyPr wrap="square" lIns="0" tIns="0" rIns="0" bIns="0" rtlCol="0" anchor="t"/>
          <a:lstStyle/>
          <a:p>
            <a:pPr marL="0" indent="0">
              <a:buNone/>
            </a:pPr>
            <a:r>
              <a:rPr lang="en-US" sz="1600" b="1" dirty="0">
                <a:solidFill>
                  <a:schemeClr val="accent2"/>
                </a:solidFill>
              </a:rPr>
              <a:t>Table booking stands out</a:t>
            </a:r>
            <a:endParaRPr lang="en-US" sz="1600" dirty="0"/>
          </a:p>
        </p:txBody>
      </p:sp>
      <p:sp>
        <p:nvSpPr>
          <p:cNvPr id="9" name="Text 6"/>
          <p:cNvSpPr txBox="1"/>
          <p:nvPr/>
        </p:nvSpPr>
        <p:spPr>
          <a:xfrm>
            <a:off x="8001000" y="3355848"/>
            <a:ext cx="3730752" cy="640080"/>
          </a:xfrm>
          <a:prstGeom prst="rect">
            <a:avLst/>
          </a:prstGeom>
          <a:noFill/>
          <a:ln/>
        </p:spPr>
        <p:txBody>
          <a:bodyPr wrap="square" lIns="0" tIns="0" rIns="0" bIns="0" rtlCol="0" anchor="t"/>
          <a:lstStyle/>
          <a:p>
            <a:pPr marL="0" indent="0">
              <a:buNone/>
            </a:pPr>
            <a:r>
              <a:rPr lang="en-US" sz="1400" dirty="0">
                <a:solidFill>
                  <a:schemeClr val="tx1"/>
                </a:solidFill>
              </a:rPr>
              <a:t>Rated 4.04 on average against 3.45 without, yet only 11% offer it.</a:t>
            </a:r>
            <a:endParaRPr lang="en-US" sz="1400" dirty="0"/>
          </a:p>
        </p:txBody>
      </p:sp>
      <p:sp>
        <p:nvSpPr>
          <p:cNvPr id="10" name="Text 7"/>
          <p:cNvSpPr txBox="1"/>
          <p:nvPr/>
        </p:nvSpPr>
        <p:spPr>
          <a:xfrm>
            <a:off x="8001000" y="4123944"/>
            <a:ext cx="3730752" cy="292608"/>
          </a:xfrm>
          <a:prstGeom prst="rect">
            <a:avLst/>
          </a:prstGeom>
          <a:noFill/>
          <a:ln/>
        </p:spPr>
        <p:txBody>
          <a:bodyPr wrap="square" lIns="0" tIns="0" rIns="0" bIns="0" rtlCol="0" anchor="t"/>
          <a:lstStyle/>
          <a:p>
            <a:pPr marL="0" indent="0">
              <a:buNone/>
            </a:pPr>
            <a:r>
              <a:rPr lang="en-US" sz="1600" b="1" dirty="0">
                <a:solidFill>
                  <a:schemeClr val="accent2"/>
                </a:solidFill>
              </a:rPr>
              <a:t>Quick Bites rate below average</a:t>
            </a:r>
            <a:endParaRPr lang="en-US" sz="1600" dirty="0"/>
          </a:p>
        </p:txBody>
      </p:sp>
      <p:sp>
        <p:nvSpPr>
          <p:cNvPr id="11" name="Text 8"/>
          <p:cNvSpPr txBox="1"/>
          <p:nvPr/>
        </p:nvSpPr>
        <p:spPr>
          <a:xfrm>
            <a:off x="8001000" y="4434840"/>
            <a:ext cx="3730752" cy="640080"/>
          </a:xfrm>
          <a:prstGeom prst="rect">
            <a:avLst/>
          </a:prstGeom>
          <a:noFill/>
          <a:ln/>
        </p:spPr>
        <p:txBody>
          <a:bodyPr wrap="square" lIns="0" tIns="0" rIns="0" bIns="0" rtlCol="0" anchor="t"/>
          <a:lstStyle/>
          <a:p>
            <a:pPr marL="0" indent="0">
              <a:buNone/>
            </a:pPr>
            <a:r>
              <a:rPr lang="en-US" sz="1400" dirty="0">
                <a:solidFill>
                  <a:schemeClr val="tx1"/>
                </a:solidFill>
              </a:rPr>
              <a:t>The largest group, 40% of restaurants, averages 3.40 against 3.69 for cafes.</a:t>
            </a:r>
            <a:endParaRPr lang="en-US" sz="1400" dirty="0"/>
          </a:p>
        </p:txBody>
      </p:sp>
      <p:sp>
        <p:nvSpPr>
          <p:cNvPr id="12" name="Text 9"/>
          <p:cNvSpPr txBox="1"/>
          <p:nvPr/>
        </p:nvSpPr>
        <p:spPr>
          <a:xfrm>
            <a:off x="8001000" y="5202936"/>
            <a:ext cx="3730752" cy="292608"/>
          </a:xfrm>
          <a:prstGeom prst="rect">
            <a:avLst/>
          </a:prstGeom>
          <a:noFill/>
          <a:ln/>
        </p:spPr>
        <p:txBody>
          <a:bodyPr wrap="square" lIns="0" tIns="0" rIns="0" bIns="0" rtlCol="0" anchor="t"/>
          <a:lstStyle/>
          <a:p>
            <a:pPr marL="0" indent="0">
              <a:buNone/>
            </a:pPr>
            <a:r>
              <a:rPr lang="en-US" sz="1600" b="1" dirty="0">
                <a:solidFill>
                  <a:schemeClr val="accent2"/>
                </a:solidFill>
              </a:rPr>
              <a:t>Location matters</a:t>
            </a:r>
            <a:endParaRPr lang="en-US" sz="1600" dirty="0"/>
          </a:p>
        </p:txBody>
      </p:sp>
      <p:sp>
        <p:nvSpPr>
          <p:cNvPr id="13" name="Text 10"/>
          <p:cNvSpPr txBox="1"/>
          <p:nvPr/>
        </p:nvSpPr>
        <p:spPr>
          <a:xfrm>
            <a:off x="8001000" y="5513832"/>
            <a:ext cx="3730752" cy="640080"/>
          </a:xfrm>
          <a:prstGeom prst="rect">
            <a:avLst/>
          </a:prstGeom>
          <a:noFill/>
          <a:ln/>
        </p:spPr>
        <p:txBody>
          <a:bodyPr wrap="square" lIns="0" tIns="0" rIns="0" bIns="0" rtlCol="0" anchor="t"/>
          <a:lstStyle/>
          <a:p>
            <a:pPr marL="0" indent="0">
              <a:buNone/>
            </a:pPr>
            <a:r>
              <a:rPr lang="en-US" sz="1400" dirty="0">
                <a:solidFill>
                  <a:schemeClr val="tx1"/>
                </a:solidFill>
              </a:rPr>
              <a:t>Among larger areas, Brigade Road averages 3.68 while Electronic City averages only 3.36.</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65760"/>
            <a:ext cx="11274552" cy="822960"/>
          </a:xfrm>
          <a:prstGeom prst="rect">
            <a:avLst/>
          </a:prstGeom>
          <a:noFill/>
          <a:ln/>
        </p:spPr>
        <p:txBody>
          <a:bodyPr wrap="square" lIns="0" tIns="0" rIns="0" bIns="0" rtlCol="0" anchor="ctr"/>
          <a:lstStyle/>
          <a:p>
            <a:pPr marL="0" indent="0" algn="l">
              <a:buNone/>
            </a:pPr>
            <a:r>
              <a:rPr lang="en-US" sz="3600" b="1" dirty="0">
                <a:solidFill>
                  <a:schemeClr val="bg1"/>
                </a:solidFill>
              </a:rPr>
              <a:t>Recommendations for Zomato</a:t>
            </a:r>
            <a:endParaRPr lang="en-US" sz="3600" dirty="0"/>
          </a:p>
        </p:txBody>
      </p:sp>
      <p:sp>
        <p:nvSpPr>
          <p:cNvPr id="3" name="Icon circle"/>
          <p:cNvSpPr/>
          <p:nvPr/>
        </p:nvSpPr>
        <p:spPr>
          <a:xfrm>
            <a:off x="457200" y="1554480"/>
            <a:ext cx="594360" cy="594360"/>
          </a:xfrm>
          <a:prstGeom prst="ellipse">
            <a:avLst/>
          </a:prstGeom>
          <a:solidFill>
            <a:schemeClr val="accent1"/>
          </a:solidFill>
          <a:ln/>
        </p:spPr>
      </p:sp>
      <p:pic>
        <p:nvPicPr>
          <p:cNvPr id="4" name="Icon" descr="preencoded.png"/>
          <p:cNvPicPr>
            <a:picLocks noChangeAspect="1"/>
          </p:cNvPicPr>
          <p:nvPr/>
        </p:nvPicPr>
        <p:blipFill>
          <a:blip r:embed="rId3"/>
          <a:stretch>
            <a:fillRect/>
          </a:stretch>
        </p:blipFill>
        <p:spPr>
          <a:xfrm>
            <a:off x="611734" y="1709014"/>
            <a:ext cx="285293" cy="285293"/>
          </a:xfrm>
          <a:prstGeom prst="rect">
            <a:avLst/>
          </a:prstGeom>
        </p:spPr>
      </p:pic>
      <p:sp>
        <p:nvSpPr>
          <p:cNvPr id="5" name="Text 2"/>
          <p:cNvSpPr txBox="1"/>
          <p:nvPr/>
        </p:nvSpPr>
        <p:spPr>
          <a:xfrm>
            <a:off x="1325880" y="1508760"/>
            <a:ext cx="3108960" cy="731520"/>
          </a:xfrm>
          <a:prstGeom prst="rect">
            <a:avLst/>
          </a:prstGeom>
          <a:noFill/>
          <a:ln/>
        </p:spPr>
        <p:txBody>
          <a:bodyPr wrap="square" lIns="0" tIns="0" rIns="0" bIns="0" rtlCol="0" anchor="ctr"/>
          <a:lstStyle/>
          <a:p>
            <a:pPr marL="0" indent="0">
              <a:buNone/>
            </a:pPr>
            <a:r>
              <a:rPr lang="en-US" sz="1800" b="1" dirty="0">
                <a:solidFill>
                  <a:schemeClr val="bg1"/>
                </a:solidFill>
              </a:rPr>
              <a:t>Grow table booking</a:t>
            </a:r>
            <a:endParaRPr lang="en-US" sz="1800" dirty="0"/>
          </a:p>
        </p:txBody>
      </p:sp>
      <p:sp>
        <p:nvSpPr>
          <p:cNvPr id="6" name="Text 3"/>
          <p:cNvSpPr txBox="1"/>
          <p:nvPr/>
        </p:nvSpPr>
        <p:spPr>
          <a:xfrm>
            <a:off x="4617720" y="1508760"/>
            <a:ext cx="7114032" cy="731520"/>
          </a:xfrm>
          <a:prstGeom prst="rect">
            <a:avLst/>
          </a:prstGeom>
          <a:noFill/>
          <a:ln/>
        </p:spPr>
        <p:txBody>
          <a:bodyPr wrap="square" lIns="0" tIns="0" rIns="0" bIns="0" rtlCol="0" anchor="ctr"/>
          <a:lstStyle/>
          <a:p>
            <a:pPr marL="0" indent="0">
              <a:buNone/>
            </a:pPr>
            <a:r>
              <a:rPr lang="en-US" sz="1400" dirty="0">
                <a:solidFill>
                  <a:schemeClr val="accent5"/>
                </a:solidFill>
              </a:rPr>
              <a:t>Only 11% offer it, yet those restaurants rate about 0.4 higher even within the same price band. Push onboarding for mid and high price restaurants.</a:t>
            </a:r>
            <a:endParaRPr lang="en-US" sz="1400" dirty="0"/>
          </a:p>
        </p:txBody>
      </p:sp>
      <p:sp>
        <p:nvSpPr>
          <p:cNvPr id="7" name="Icon circle"/>
          <p:cNvSpPr/>
          <p:nvPr/>
        </p:nvSpPr>
        <p:spPr>
          <a:xfrm>
            <a:off x="457200" y="2505456"/>
            <a:ext cx="594360" cy="594360"/>
          </a:xfrm>
          <a:prstGeom prst="ellipse">
            <a:avLst/>
          </a:prstGeom>
          <a:solidFill>
            <a:schemeClr val="accent1"/>
          </a:solidFill>
          <a:ln/>
        </p:spPr>
      </p:sp>
      <p:pic>
        <p:nvPicPr>
          <p:cNvPr id="8" name="Icon" descr="preencoded.png"/>
          <p:cNvPicPr>
            <a:picLocks noChangeAspect="1"/>
          </p:cNvPicPr>
          <p:nvPr/>
        </p:nvPicPr>
        <p:blipFill>
          <a:blip r:embed="rId4"/>
          <a:stretch>
            <a:fillRect/>
          </a:stretch>
        </p:blipFill>
        <p:spPr>
          <a:xfrm>
            <a:off x="611734" y="2659990"/>
            <a:ext cx="285293" cy="285293"/>
          </a:xfrm>
          <a:prstGeom prst="rect">
            <a:avLst/>
          </a:prstGeom>
        </p:spPr>
      </p:pic>
      <p:sp>
        <p:nvSpPr>
          <p:cNvPr id="9" name="Text 5"/>
          <p:cNvSpPr txBox="1"/>
          <p:nvPr/>
        </p:nvSpPr>
        <p:spPr>
          <a:xfrm>
            <a:off x="1325880" y="2459736"/>
            <a:ext cx="3108960" cy="731520"/>
          </a:xfrm>
          <a:prstGeom prst="rect">
            <a:avLst/>
          </a:prstGeom>
          <a:noFill/>
          <a:ln/>
        </p:spPr>
        <p:txBody>
          <a:bodyPr wrap="square" lIns="0" tIns="0" rIns="0" bIns="0" rtlCol="0" anchor="ctr"/>
          <a:lstStyle/>
          <a:p>
            <a:pPr marL="0" indent="0">
              <a:buNone/>
            </a:pPr>
            <a:r>
              <a:rPr lang="en-US" sz="1800" b="1" dirty="0">
                <a:solidFill>
                  <a:schemeClr val="bg1"/>
                </a:solidFill>
              </a:rPr>
              <a:t>Close the online ordering gap</a:t>
            </a:r>
            <a:endParaRPr lang="en-US" sz="1800" dirty="0"/>
          </a:p>
        </p:txBody>
      </p:sp>
      <p:sp>
        <p:nvSpPr>
          <p:cNvPr id="10" name="Text 6"/>
          <p:cNvSpPr txBox="1"/>
          <p:nvPr/>
        </p:nvSpPr>
        <p:spPr>
          <a:xfrm>
            <a:off x="4617720" y="2459736"/>
            <a:ext cx="7114032" cy="731520"/>
          </a:xfrm>
          <a:prstGeom prst="rect">
            <a:avLst/>
          </a:prstGeom>
          <a:noFill/>
          <a:ln/>
        </p:spPr>
        <p:txBody>
          <a:bodyPr wrap="square" lIns="0" tIns="0" rIns="0" bIns="0" rtlCol="0" anchor="ctr"/>
          <a:lstStyle/>
          <a:p>
            <a:pPr marL="0" indent="0">
              <a:buNone/>
            </a:pPr>
            <a:r>
              <a:rPr lang="en-US" sz="1400" dirty="0">
                <a:solidFill>
                  <a:schemeClr val="accent5"/>
                </a:solidFill>
              </a:rPr>
              <a:t>47% of restaurants are not online. Among larger areas the online share is lowest in Koramangala 4th Block (25%) and Brigade Road (41%).</a:t>
            </a:r>
            <a:endParaRPr lang="en-US" sz="1400" dirty="0"/>
          </a:p>
        </p:txBody>
      </p:sp>
      <p:sp>
        <p:nvSpPr>
          <p:cNvPr id="11" name="Icon circle"/>
          <p:cNvSpPr/>
          <p:nvPr/>
        </p:nvSpPr>
        <p:spPr>
          <a:xfrm>
            <a:off x="457200" y="3456432"/>
            <a:ext cx="594360" cy="594360"/>
          </a:xfrm>
          <a:prstGeom prst="ellipse">
            <a:avLst/>
          </a:prstGeom>
          <a:solidFill>
            <a:schemeClr val="accent1"/>
          </a:solidFill>
          <a:ln/>
        </p:spPr>
      </p:sp>
      <p:pic>
        <p:nvPicPr>
          <p:cNvPr id="12" name="Icon" descr="preencoded.png"/>
          <p:cNvPicPr>
            <a:picLocks noChangeAspect="1"/>
          </p:cNvPicPr>
          <p:nvPr/>
        </p:nvPicPr>
        <p:blipFill>
          <a:blip r:embed="rId5"/>
          <a:stretch>
            <a:fillRect/>
          </a:stretch>
        </p:blipFill>
        <p:spPr>
          <a:xfrm>
            <a:off x="611734" y="3610966"/>
            <a:ext cx="285293" cy="285293"/>
          </a:xfrm>
          <a:prstGeom prst="rect">
            <a:avLst/>
          </a:prstGeom>
        </p:spPr>
      </p:pic>
      <p:sp>
        <p:nvSpPr>
          <p:cNvPr id="13" name="Text 8"/>
          <p:cNvSpPr txBox="1"/>
          <p:nvPr/>
        </p:nvSpPr>
        <p:spPr>
          <a:xfrm>
            <a:off x="1325880" y="3410712"/>
            <a:ext cx="3108960" cy="731520"/>
          </a:xfrm>
          <a:prstGeom prst="rect">
            <a:avLst/>
          </a:prstGeom>
          <a:noFill/>
          <a:ln/>
        </p:spPr>
        <p:txBody>
          <a:bodyPr wrap="square" lIns="0" tIns="0" rIns="0" bIns="0" rtlCol="0" anchor="ctr"/>
          <a:lstStyle/>
          <a:p>
            <a:pPr marL="0" indent="0">
              <a:buNone/>
            </a:pPr>
            <a:r>
              <a:rPr lang="en-US" sz="1800" b="1" dirty="0">
                <a:solidFill>
                  <a:schemeClr val="bg1"/>
                </a:solidFill>
              </a:rPr>
              <a:t>Lift Quick Bites and budget quality</a:t>
            </a:r>
            <a:endParaRPr lang="en-US" sz="1800" dirty="0"/>
          </a:p>
        </p:txBody>
      </p:sp>
      <p:sp>
        <p:nvSpPr>
          <p:cNvPr id="14" name="Text 9"/>
          <p:cNvSpPr txBox="1"/>
          <p:nvPr/>
        </p:nvSpPr>
        <p:spPr>
          <a:xfrm>
            <a:off x="4617720" y="3410712"/>
            <a:ext cx="7114032" cy="731520"/>
          </a:xfrm>
          <a:prstGeom prst="rect">
            <a:avLst/>
          </a:prstGeom>
          <a:noFill/>
          <a:ln/>
        </p:spPr>
        <p:txBody>
          <a:bodyPr wrap="square" lIns="0" tIns="0" rIns="0" bIns="0" rtlCol="0" anchor="ctr"/>
          <a:lstStyle/>
          <a:p>
            <a:pPr marL="0" indent="0">
              <a:buNone/>
            </a:pPr>
            <a:r>
              <a:rPr lang="en-US" sz="1400" dirty="0">
                <a:solidFill>
                  <a:schemeClr val="accent5"/>
                </a:solidFill>
              </a:rPr>
              <a:t>They are 40% of listings and average 3.40. Offer rating-improvement support and highlight the best performers.</a:t>
            </a:r>
            <a:endParaRPr lang="en-US" sz="1400" dirty="0"/>
          </a:p>
        </p:txBody>
      </p:sp>
      <p:sp>
        <p:nvSpPr>
          <p:cNvPr id="15" name="Icon circle"/>
          <p:cNvSpPr/>
          <p:nvPr/>
        </p:nvSpPr>
        <p:spPr>
          <a:xfrm>
            <a:off x="457200" y="4407408"/>
            <a:ext cx="594360" cy="594360"/>
          </a:xfrm>
          <a:prstGeom prst="ellipse">
            <a:avLst/>
          </a:prstGeom>
          <a:solidFill>
            <a:schemeClr val="accent1"/>
          </a:solidFill>
          <a:ln/>
        </p:spPr>
      </p:sp>
      <p:pic>
        <p:nvPicPr>
          <p:cNvPr id="16" name="Icon" descr="preencoded.png"/>
          <p:cNvPicPr>
            <a:picLocks noChangeAspect="1"/>
          </p:cNvPicPr>
          <p:nvPr/>
        </p:nvPicPr>
        <p:blipFill>
          <a:blip r:embed="rId6"/>
          <a:stretch>
            <a:fillRect/>
          </a:stretch>
        </p:blipFill>
        <p:spPr>
          <a:xfrm>
            <a:off x="611734" y="4561942"/>
            <a:ext cx="285293" cy="285293"/>
          </a:xfrm>
          <a:prstGeom prst="rect">
            <a:avLst/>
          </a:prstGeom>
        </p:spPr>
      </p:pic>
      <p:sp>
        <p:nvSpPr>
          <p:cNvPr id="17" name="Text 11"/>
          <p:cNvSpPr txBox="1"/>
          <p:nvPr/>
        </p:nvSpPr>
        <p:spPr>
          <a:xfrm>
            <a:off x="1325880" y="4361688"/>
            <a:ext cx="3108960" cy="731520"/>
          </a:xfrm>
          <a:prstGeom prst="rect">
            <a:avLst/>
          </a:prstGeom>
          <a:noFill/>
          <a:ln/>
        </p:spPr>
        <p:txBody>
          <a:bodyPr wrap="square" lIns="0" tIns="0" rIns="0" bIns="0" rtlCol="0" anchor="ctr"/>
          <a:lstStyle/>
          <a:p>
            <a:pPr marL="0" indent="0">
              <a:buNone/>
            </a:pPr>
            <a:r>
              <a:rPr lang="en-US" sz="1800" b="1" dirty="0">
                <a:solidFill>
                  <a:schemeClr val="bg1"/>
                </a:solidFill>
              </a:rPr>
              <a:t>Focus on weaker areas</a:t>
            </a:r>
            <a:endParaRPr lang="en-US" sz="1800" dirty="0"/>
          </a:p>
        </p:txBody>
      </p:sp>
      <p:sp>
        <p:nvSpPr>
          <p:cNvPr id="18" name="Text 12"/>
          <p:cNvSpPr txBox="1"/>
          <p:nvPr/>
        </p:nvSpPr>
        <p:spPr>
          <a:xfrm>
            <a:off x="4617720" y="4361688"/>
            <a:ext cx="7114032" cy="731520"/>
          </a:xfrm>
          <a:prstGeom prst="rect">
            <a:avLst/>
          </a:prstGeom>
          <a:noFill/>
          <a:ln/>
        </p:spPr>
        <p:txBody>
          <a:bodyPr wrap="square" lIns="0" tIns="0" rIns="0" bIns="0" rtlCol="0" anchor="ctr"/>
          <a:lstStyle/>
          <a:p>
            <a:pPr marL="0" indent="0">
              <a:buNone/>
            </a:pPr>
            <a:r>
              <a:rPr lang="en-US" sz="1400" dirty="0">
                <a:solidFill>
                  <a:schemeClr val="accent5"/>
                </a:solidFill>
              </a:rPr>
              <a:t>Among larger areas, Electronic City (3.36), HSR (3.39) and Marathahalli (3.41) rate lowest. Run local partner support and campaigns there.</a:t>
            </a:r>
            <a:endParaRPr lang="en-US" sz="1400" dirty="0"/>
          </a:p>
        </p:txBody>
      </p:sp>
      <p:sp>
        <p:nvSpPr>
          <p:cNvPr id="19" name="Icon circle"/>
          <p:cNvSpPr/>
          <p:nvPr/>
        </p:nvSpPr>
        <p:spPr>
          <a:xfrm>
            <a:off x="457200" y="5358384"/>
            <a:ext cx="594360" cy="594360"/>
          </a:xfrm>
          <a:prstGeom prst="ellipse">
            <a:avLst/>
          </a:prstGeom>
          <a:solidFill>
            <a:schemeClr val="accent1"/>
          </a:solidFill>
          <a:ln/>
        </p:spPr>
      </p:sp>
      <p:pic>
        <p:nvPicPr>
          <p:cNvPr id="20" name="Icon" descr="preencoded.png"/>
          <p:cNvPicPr>
            <a:picLocks noChangeAspect="1"/>
          </p:cNvPicPr>
          <p:nvPr/>
        </p:nvPicPr>
        <p:blipFill>
          <a:blip r:embed="rId7"/>
          <a:stretch>
            <a:fillRect/>
          </a:stretch>
        </p:blipFill>
        <p:spPr>
          <a:xfrm>
            <a:off x="611734" y="5512918"/>
            <a:ext cx="285293" cy="285293"/>
          </a:xfrm>
          <a:prstGeom prst="rect">
            <a:avLst/>
          </a:prstGeom>
        </p:spPr>
      </p:pic>
      <p:sp>
        <p:nvSpPr>
          <p:cNvPr id="21" name="Text 14"/>
          <p:cNvSpPr txBox="1"/>
          <p:nvPr/>
        </p:nvSpPr>
        <p:spPr>
          <a:xfrm>
            <a:off x="1325880" y="5312664"/>
            <a:ext cx="3108960" cy="731520"/>
          </a:xfrm>
          <a:prstGeom prst="rect">
            <a:avLst/>
          </a:prstGeom>
          <a:noFill/>
          <a:ln/>
        </p:spPr>
        <p:txBody>
          <a:bodyPr wrap="square" lIns="0" tIns="0" rIns="0" bIns="0" rtlCol="0" anchor="ctr"/>
          <a:lstStyle/>
          <a:p>
            <a:pPr marL="0" indent="0">
              <a:buNone/>
            </a:pPr>
            <a:r>
              <a:rPr lang="en-US" sz="1800" b="1" dirty="0">
                <a:solidFill>
                  <a:schemeClr val="bg1"/>
                </a:solidFill>
              </a:rPr>
              <a:t>Build more reviews</a:t>
            </a:r>
            <a:endParaRPr lang="en-US" sz="1800" dirty="0"/>
          </a:p>
        </p:txBody>
      </p:sp>
      <p:sp>
        <p:nvSpPr>
          <p:cNvPr id="22" name="Text 15"/>
          <p:cNvSpPr txBox="1"/>
          <p:nvPr/>
        </p:nvSpPr>
        <p:spPr>
          <a:xfrm>
            <a:off x="4617720" y="5312664"/>
            <a:ext cx="7114032" cy="731520"/>
          </a:xfrm>
          <a:prstGeom prst="rect">
            <a:avLst/>
          </a:prstGeom>
          <a:noFill/>
          <a:ln/>
        </p:spPr>
        <p:txBody>
          <a:bodyPr wrap="square" lIns="0" tIns="0" rIns="0" bIns="0" rtlCol="0" anchor="ctr"/>
          <a:lstStyle/>
          <a:p>
            <a:pPr marL="0" indent="0">
              <a:buNone/>
            </a:pPr>
            <a:r>
              <a:rPr lang="en-US" sz="1400" dirty="0">
                <a:solidFill>
                  <a:schemeClr val="accent5"/>
                </a:solidFill>
              </a:rPr>
              <a:t>58% of restaurants have under 50 ratings. Prompt reviews after orders, and promote highly rated niche cuisines such as American (3.98) and Asian (3.95).</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Zomato Insights">
  <a:themeElements>
    <a:clrScheme name="Zomato Insights">
      <a:dk1>
        <a:srgbClr val="1C1C1C"/>
      </a:dk1>
      <a:lt1>
        <a:srgbClr val="FFFFFF"/>
      </a:lt1>
      <a:dk2>
        <a:srgbClr val="3A3A3A"/>
      </a:dk2>
      <a:lt2>
        <a:srgbClr val="F3F4F6"/>
      </a:lt2>
      <a:accent1>
        <a:srgbClr val="E23744"/>
      </a:accent1>
      <a:accent2>
        <a:srgbClr val="B3202C"/>
      </a:accent2>
      <a:accent3>
        <a:srgbClr val="F5A3A9"/>
      </a:accent3>
      <a:accent4>
        <a:srgbClr val="8C8C8C"/>
      </a:accent4>
      <a:accent5>
        <a:srgbClr val="D9D9D9"/>
      </a:accent5>
      <a:accent6>
        <a:srgbClr val="2B2B2B"/>
      </a:accent6>
      <a:hlink>
        <a:srgbClr val="B3202C"/>
      </a:hlink>
      <a:folHlink>
        <a:srgbClr val="8C8C8C"/>
      </a:folHlink>
    </a:clrScheme>
    <a:fontScheme name="Zomato Insigh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1079</Words>
  <Application>Microsoft Macintosh PowerPoint</Application>
  <PresentationFormat>Widescreen</PresentationFormat>
  <Paragraphs>158</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Zomato Insights</vt:lpstr>
      <vt:lpstr>Zomato Restaurants Analysis</vt:lpstr>
      <vt:lpstr>,</vt:lpstr>
      <vt:lpstr>Observations from the raw data</vt:lpstr>
      <vt:lpstr>From raw data to final data</vt:lpstr>
      <vt:lpstr>Solution: the final clean dataset</vt:lpstr>
      <vt:lpstr>Dashboard and key insights</vt:lpstr>
      <vt:lpstr>Recommendations for Zomato</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Restaurants Analysis - Team Insights</dc:title>
  <dc:subject>PptxGenJS Presentation</dc:subject>
  <dc:creator>Team Insights</dc:creator>
  <cp:lastModifiedBy>Dhruv Lad</cp:lastModifiedBy>
  <cp:revision>3</cp:revision>
  <dcterms:created xsi:type="dcterms:W3CDTF">2026-10-12T08:07:45Z</dcterms:created>
  <dcterms:modified xsi:type="dcterms:W3CDTF">2026-10-12T11:04:02Z</dcterms:modified>
</cp:coreProperties>
</file>